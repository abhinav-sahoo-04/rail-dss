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Times New Roman Bold" charset="1" panose="020208030705050203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28.png" Type="http://schemas.openxmlformats.org/officeDocument/2006/relationships/image"/><Relationship Id="rId19" Target="../media/image29.svg" Type="http://schemas.openxmlformats.org/officeDocument/2006/relationships/image"/><Relationship Id="rId2" Target="../media/image12.png" Type="http://schemas.openxmlformats.org/officeDocument/2006/relationships/image"/><Relationship Id="rId20" Target="../media/image30.png" Type="http://schemas.openxmlformats.org/officeDocument/2006/relationships/image"/><Relationship Id="rId21" Target="../media/image31.svg" Type="http://schemas.openxmlformats.org/officeDocument/2006/relationships/image"/><Relationship Id="rId22" Target="../media/image32.png" Type="http://schemas.openxmlformats.org/officeDocument/2006/relationships/image"/><Relationship Id="rId23" Target="../media/image33.svg" Type="http://schemas.openxmlformats.org/officeDocument/2006/relationships/image"/><Relationship Id="rId24" Target="../media/image34.png" Type="http://schemas.openxmlformats.org/officeDocument/2006/relationships/image"/><Relationship Id="rId25" Target="../media/image35.svg" Type="http://schemas.openxmlformats.org/officeDocument/2006/relationships/image"/><Relationship Id="rId26" Target="../media/image36.png" Type="http://schemas.openxmlformats.org/officeDocument/2006/relationships/image"/><Relationship Id="rId27" Target="../media/image37.svg" Type="http://schemas.openxmlformats.org/officeDocument/2006/relationships/image"/><Relationship Id="rId28" Target="../media/image38.png" Type="http://schemas.openxmlformats.org/officeDocument/2006/relationships/image"/><Relationship Id="rId29" Target="../media/image39.svg" Type="http://schemas.openxmlformats.org/officeDocument/2006/relationships/image"/><Relationship Id="rId3" Target="../media/image13.svg" Type="http://schemas.openxmlformats.org/officeDocument/2006/relationships/image"/><Relationship Id="rId30" Target="../media/image40.png" Type="http://schemas.openxmlformats.org/officeDocument/2006/relationships/image"/><Relationship Id="rId31" Target="../media/image41.svg" Type="http://schemas.openxmlformats.org/officeDocument/2006/relationships/image"/><Relationship Id="rId32" Target="../media/image42.png" Type="http://schemas.openxmlformats.org/officeDocument/2006/relationships/image"/><Relationship Id="rId33" Target="../media/image43.svg" Type="http://schemas.openxmlformats.org/officeDocument/2006/relationships/image"/><Relationship Id="rId34" Target="../media/image44.png" Type="http://schemas.openxmlformats.org/officeDocument/2006/relationships/image"/><Relationship Id="rId35" Target="../media/image45.svg" Type="http://schemas.openxmlformats.org/officeDocument/2006/relationships/image"/><Relationship Id="rId36" Target="../media/image46.png" Type="http://schemas.openxmlformats.org/officeDocument/2006/relationships/image"/><Relationship Id="rId37" Target="../media/image47.svg" Type="http://schemas.openxmlformats.org/officeDocument/2006/relationships/image"/><Relationship Id="rId38" Target="../media/image48.png" Type="http://schemas.openxmlformats.org/officeDocument/2006/relationships/image"/><Relationship Id="rId39" Target="../media/image49.svg" Type="http://schemas.openxmlformats.org/officeDocument/2006/relationships/image"/><Relationship Id="rId4" Target="../media/image14.png" Type="http://schemas.openxmlformats.org/officeDocument/2006/relationships/image"/><Relationship Id="rId40" Target="../media/image50.png" Type="http://schemas.openxmlformats.org/officeDocument/2006/relationships/image"/><Relationship Id="rId41" Target="../media/image51.svg" Type="http://schemas.openxmlformats.org/officeDocument/2006/relationships/image"/><Relationship Id="rId42" Target="../media/image52.png" Type="http://schemas.openxmlformats.org/officeDocument/2006/relationships/image"/><Relationship Id="rId43" Target="../media/image53.svg" Type="http://schemas.openxmlformats.org/officeDocument/2006/relationships/image"/><Relationship Id="rId44" Target="../media/image54.png" Type="http://schemas.openxmlformats.org/officeDocument/2006/relationships/image"/><Relationship Id="rId45" Target="../media/image55.svg" Type="http://schemas.openxmlformats.org/officeDocument/2006/relationships/image"/><Relationship Id="rId46" Target="../media/image56.png" Type="http://schemas.openxmlformats.org/officeDocument/2006/relationships/image"/><Relationship Id="rId47" Target="../media/image57.svg" Type="http://schemas.openxmlformats.org/officeDocument/2006/relationships/image"/><Relationship Id="rId48" Target="../media/image58.png" Type="http://schemas.openxmlformats.org/officeDocument/2006/relationships/image"/><Relationship Id="rId49" Target="../media/image59.svg" Type="http://schemas.openxmlformats.org/officeDocument/2006/relationships/image"/><Relationship Id="rId5" Target="../media/image15.svg" Type="http://schemas.openxmlformats.org/officeDocument/2006/relationships/image"/><Relationship Id="rId50" Target="../media/image60.png" Type="http://schemas.openxmlformats.org/officeDocument/2006/relationships/image"/><Relationship Id="rId51" Target="../media/image61.svg" Type="http://schemas.openxmlformats.org/officeDocument/2006/relationships/image"/><Relationship Id="rId52" Target="../media/image62.png" Type="http://schemas.openxmlformats.org/officeDocument/2006/relationships/image"/><Relationship Id="rId53" Target="../media/image63.svg" Type="http://schemas.openxmlformats.org/officeDocument/2006/relationships/image"/><Relationship Id="rId54" Target="../media/image64.png" Type="http://schemas.openxmlformats.org/officeDocument/2006/relationships/image"/><Relationship Id="rId55" Target="../media/image65.svg" Type="http://schemas.openxmlformats.org/officeDocument/2006/relationships/image"/><Relationship Id="rId56" Target="../media/image66.png" Type="http://schemas.openxmlformats.org/officeDocument/2006/relationships/image"/><Relationship Id="rId57" Target="../media/image67.svg" Type="http://schemas.openxmlformats.org/officeDocument/2006/relationships/image"/><Relationship Id="rId58" Target="../media/image1.jpeg" Type="http://schemas.openxmlformats.org/officeDocument/2006/relationships/image"/><Relationship Id="rId59" Target="../media/image2.jpe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02336" cy="10287000"/>
            <a:chOff x="0" y="0"/>
            <a:chExt cx="53644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644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67360" y="0"/>
            <a:ext cx="5120640" cy="10287000"/>
            <a:chOff x="0" y="0"/>
            <a:chExt cx="682752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3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727680" y="0"/>
            <a:ext cx="2560320" cy="10287000"/>
            <a:chOff x="0" y="0"/>
            <a:chExt cx="341376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13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5840" y="768096"/>
            <a:ext cx="3291840" cy="585216"/>
            <a:chOff x="0" y="0"/>
            <a:chExt cx="438912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242816" y="0"/>
                  </a:lnTo>
                  <a:cubicBezTo>
                    <a:pt x="4323588" y="0"/>
                    <a:pt x="4389120" y="65532"/>
                    <a:pt x="4389120" y="146304"/>
                  </a:cubicBezTo>
                  <a:lnTo>
                    <a:pt x="4389120" y="633984"/>
                  </a:lnTo>
                  <a:cubicBezTo>
                    <a:pt x="4389120" y="714756"/>
                    <a:pt x="4323588" y="780288"/>
                    <a:pt x="4242816" y="780288"/>
                  </a:cubicBezTo>
                  <a:lnTo>
                    <a:pt x="146304" y="780288"/>
                  </a:lnTo>
                  <a:cubicBezTo>
                    <a:pt x="65532" y="780288"/>
                    <a:pt x="0" y="714756"/>
                    <a:pt x="0" y="633984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5840" y="768096"/>
            <a:ext cx="3291840" cy="585216"/>
            <a:chOff x="0" y="0"/>
            <a:chExt cx="4389120" cy="780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526" r="0" b="-5952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746665"/>
            <a:ext cx="3291840" cy="606647"/>
            <a:chOff x="0" y="0"/>
            <a:chExt cx="4389120" cy="8088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0" cy="808863"/>
            </a:xfrm>
            <a:custGeom>
              <a:avLst/>
              <a:gdLst/>
              <a:ahLst/>
              <a:cxnLst/>
              <a:rect r="r" b="b" t="t" l="l"/>
              <a:pathLst>
                <a:path h="808863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08863"/>
                  </a:lnTo>
                  <a:lnTo>
                    <a:pt x="0" y="8088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31" r="0" b="-5573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38912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 PROJECT — II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2011680"/>
            <a:ext cx="11887200" cy="1554480"/>
            <a:chOff x="0" y="0"/>
            <a:chExt cx="15849600" cy="2072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849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899" r="0" b="-9889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897380"/>
            <a:ext cx="11887200" cy="1668780"/>
            <a:chOff x="0" y="0"/>
            <a:chExt cx="15849600" cy="2225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849600" cy="2225040"/>
            </a:xfrm>
            <a:custGeom>
              <a:avLst/>
              <a:gdLst/>
              <a:ahLst/>
              <a:cxnLst/>
              <a:rect r="r" b="b" t="t" l="l"/>
              <a:pathLst>
                <a:path h="222504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2225040"/>
                  </a:lnTo>
                  <a:lnTo>
                    <a:pt x="0" y="2225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797" r="0" b="-8879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52400"/>
              <a:ext cx="15849600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  <a:r>
                <a:rPr lang="en-US" sz="76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ail DSS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3511296"/>
            <a:ext cx="11887200" cy="1316736"/>
            <a:chOff x="0" y="0"/>
            <a:chExt cx="15849600" cy="1755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784" r="0" b="-12578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3012281"/>
            <a:ext cx="12490816" cy="2131219"/>
            <a:chOff x="0" y="0"/>
            <a:chExt cx="16602667" cy="28327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602667" cy="2832795"/>
            </a:xfrm>
            <a:custGeom>
              <a:avLst/>
              <a:gdLst/>
              <a:ahLst/>
              <a:cxnLst/>
              <a:rect r="r" b="b" t="t" l="l"/>
              <a:pathLst>
                <a:path h="2832795" w="16602667">
                  <a:moveTo>
                    <a:pt x="0" y="0"/>
                  </a:moveTo>
                  <a:lnTo>
                    <a:pt x="16602667" y="0"/>
                  </a:lnTo>
                  <a:lnTo>
                    <a:pt x="16602667" y="2832795"/>
                  </a:lnTo>
                  <a:lnTo>
                    <a:pt x="0" y="28327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846" r="4535" b="-4219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14300"/>
              <a:ext cx="16602667" cy="2947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Intelligent Deci</a:t>
              </a:r>
              <a:r>
                <a:rPr lang="en-US" sz="5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sion Support System for Automated Railway Platform Allocation 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4754880"/>
            <a:ext cx="11887200" cy="1316736"/>
            <a:chOff x="0" y="0"/>
            <a:chExt cx="15849600" cy="17556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849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784" r="0" b="-125784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4754880"/>
            <a:ext cx="11887200" cy="1409605"/>
            <a:chOff x="0" y="0"/>
            <a:chExt cx="15849600" cy="18794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849600" cy="1879473"/>
            </a:xfrm>
            <a:custGeom>
              <a:avLst/>
              <a:gdLst/>
              <a:ahLst/>
              <a:cxnLst/>
              <a:rect r="r" b="b" t="t" l="l"/>
              <a:pathLst>
                <a:path h="1879473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879473"/>
                  </a:lnTo>
                  <a:lnTo>
                    <a:pt x="0" y="18794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317" r="0" b="-11431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23825"/>
              <a:ext cx="15849600" cy="200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 Traffic Control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6254496"/>
            <a:ext cx="5852160" cy="54864"/>
            <a:chOff x="0" y="0"/>
            <a:chExt cx="7802880" cy="731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02880" cy="73152"/>
            </a:xfrm>
            <a:custGeom>
              <a:avLst/>
              <a:gdLst/>
              <a:ahLst/>
              <a:cxnLst/>
              <a:rect r="r" b="b" t="t" l="l"/>
              <a:pathLst>
                <a:path h="731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6583680"/>
            <a:ext cx="11887200" cy="640080"/>
            <a:chOff x="0" y="0"/>
            <a:chExt cx="1584960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849600" cy="853440"/>
            </a:xfrm>
            <a:custGeom>
              <a:avLst/>
              <a:gdLst/>
              <a:ahLst/>
              <a:cxnLst/>
              <a:rect r="r" b="b" t="t" l="l"/>
              <a:pathLst>
                <a:path h="85344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613" r="0" b="-31161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4400" y="6547961"/>
            <a:ext cx="11887200" cy="675799"/>
            <a:chOff x="0" y="0"/>
            <a:chExt cx="15849600" cy="90106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849600" cy="901065"/>
            </a:xfrm>
            <a:custGeom>
              <a:avLst/>
              <a:gdLst/>
              <a:ahLst/>
              <a:cxnLst/>
              <a:rect r="r" b="b" t="t" l="l"/>
              <a:pathLst>
                <a:path h="901065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738" r="0" b="-29273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5849600" cy="948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 ·  IoT  ·  GPS  ·  Railway APIs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093440" y="9326880"/>
            <a:ext cx="1463040" cy="548640"/>
            <a:chOff x="0" y="0"/>
            <a:chExt cx="195072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23" r="0" b="-1923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6093440" y="9298305"/>
            <a:ext cx="1463040" cy="577215"/>
            <a:chOff x="0" y="0"/>
            <a:chExt cx="1950720" cy="7696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50720" cy="769620"/>
            </a:xfrm>
            <a:custGeom>
              <a:avLst/>
              <a:gdLst/>
              <a:ahLst/>
              <a:cxnLst/>
              <a:rect r="r" b="b" t="t" l="l"/>
              <a:pathLst>
                <a:path h="7696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" t="0" r="-61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95072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0"/>
            <a:chOff x="0" y="0"/>
            <a:chExt cx="243840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402336" cy="1280160"/>
            <a:chOff x="0" y="0"/>
            <a:chExt cx="536448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6448" cy="1706880"/>
            </a:xfrm>
            <a:custGeom>
              <a:avLst/>
              <a:gdLst/>
              <a:ahLst/>
              <a:cxnLst/>
              <a:rect r="r" b="b" t="t" l="l"/>
              <a:pathLst>
                <a:path h="170688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8096" y="0"/>
            <a:ext cx="15544800" cy="1280160"/>
            <a:chOff x="0" y="0"/>
            <a:chExt cx="20726400" cy="1706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439" r="0" b="-18643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8096" y="-42862"/>
            <a:ext cx="15544800" cy="1323023"/>
            <a:chOff x="0" y="0"/>
            <a:chExt cx="20726400" cy="17640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1764030"/>
            </a:xfrm>
            <a:custGeom>
              <a:avLst/>
              <a:gdLst/>
              <a:ahLst/>
              <a:cxnLst/>
              <a:rect r="r" b="b" t="t" l="l"/>
              <a:pathLst>
                <a:path h="176403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64030"/>
                  </a:lnTo>
                  <a:lnTo>
                    <a:pt x="0" y="1764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938" r="0" b="-1789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7264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spc="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&amp; PROPOSED SOLUTION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0" y="0"/>
            <a:ext cx="3291840" cy="1280160"/>
            <a:chOff x="0" y="0"/>
            <a:chExt cx="438912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9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" r="0" b="-6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0400" y="-21431"/>
            <a:ext cx="3291840" cy="1301591"/>
            <a:chOff x="0" y="0"/>
            <a:chExt cx="4389120" cy="17354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1735455"/>
            </a:xfrm>
            <a:custGeom>
              <a:avLst/>
              <a:gdLst/>
              <a:ahLst/>
              <a:cxnLst/>
              <a:rect r="r" b="b" t="t" l="l"/>
              <a:pathLst>
                <a:path h="1735455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35455"/>
                  </a:lnTo>
                  <a:lnTo>
                    <a:pt x="0" y="17354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" t="0" r="-731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38912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PROJECT — II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07840" y="9509760"/>
            <a:ext cx="914400" cy="548640"/>
            <a:chOff x="0" y="0"/>
            <a:chExt cx="12192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5" t="0" r="-2703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007840" y="9481185"/>
            <a:ext cx="914400" cy="577215"/>
            <a:chOff x="0" y="0"/>
            <a:chExt cx="1219200" cy="7696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t="0" r="-3099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19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0080" y="1554480"/>
            <a:ext cx="109728" cy="694944"/>
            <a:chOff x="0" y="0"/>
            <a:chExt cx="146304" cy="926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1554480"/>
            <a:ext cx="6400800" cy="694944"/>
            <a:chOff x="0" y="0"/>
            <a:chExt cx="853440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342" r="0" b="-129343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1511618"/>
            <a:ext cx="6400800" cy="737806"/>
            <a:chOff x="0" y="0"/>
            <a:chExt cx="8534400" cy="9837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34400" cy="983742"/>
            </a:xfrm>
            <a:custGeom>
              <a:avLst/>
              <a:gdLst/>
              <a:ahLst/>
              <a:cxnLst/>
              <a:rect r="r" b="b" t="t" l="l"/>
              <a:pathLst>
                <a:path h="98374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041" r="0" b="-11904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534400" cy="1040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CHALLENGE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11967" y="1554480"/>
            <a:ext cx="109728" cy="694944"/>
            <a:chOff x="0" y="0"/>
            <a:chExt cx="146304" cy="926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304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750295" y="1554480"/>
            <a:ext cx="7315200" cy="694944"/>
            <a:chOff x="0" y="0"/>
            <a:chExt cx="975360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962" r="0" b="-15496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50295" y="1511618"/>
            <a:ext cx="7315200" cy="737806"/>
            <a:chOff x="0" y="0"/>
            <a:chExt cx="9753600" cy="98374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983742"/>
            </a:xfrm>
            <a:custGeom>
              <a:avLst/>
              <a:gdLst/>
              <a:ahLst/>
              <a:cxnLst/>
              <a:rect r="r" b="b" t="t" l="l"/>
              <a:pathLst>
                <a:path h="98374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190" r="0" b="-14319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753600" cy="1040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SOLUTION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0" y="1499616"/>
            <a:ext cx="36576" cy="8229600"/>
            <a:chOff x="0" y="0"/>
            <a:chExt cx="48768" cy="1097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633727" y="2517391"/>
            <a:ext cx="8242364" cy="1366076"/>
          </a:xfrm>
          <a:custGeom>
            <a:avLst/>
            <a:gdLst/>
            <a:ahLst/>
            <a:cxnLst/>
            <a:rect r="r" b="b" t="t" l="l"/>
            <a:pathLst>
              <a:path h="1366076" w="8242364">
                <a:moveTo>
                  <a:pt x="0" y="0"/>
                </a:moveTo>
                <a:lnTo>
                  <a:pt x="8242363" y="0"/>
                </a:lnTo>
                <a:lnTo>
                  <a:pt x="8242363" y="1366075"/>
                </a:lnTo>
                <a:lnTo>
                  <a:pt x="0" y="136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640080" y="2523744"/>
            <a:ext cx="109728" cy="1353312"/>
            <a:chOff x="0" y="0"/>
            <a:chExt cx="146304" cy="18044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50976" y="2596896"/>
            <a:ext cx="7680960" cy="512064"/>
            <a:chOff x="0" y="0"/>
            <a:chExt cx="1024128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50976" y="2561177"/>
            <a:ext cx="7680960" cy="547783"/>
            <a:chOff x="0" y="0"/>
            <a:chExt cx="10241280" cy="73037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0" cy="730377"/>
            </a:xfrm>
            <a:custGeom>
              <a:avLst/>
              <a:gdLst/>
              <a:ahLst/>
              <a:cxnLst/>
              <a:rect r="r" b="b" t="t" l="l"/>
              <a:pathLst>
                <a:path h="73037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217" r="0" b="-22321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24128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Operational Inefficiency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0976" y="3108960"/>
            <a:ext cx="7680960" cy="621792"/>
            <a:chOff x="0" y="0"/>
            <a:chExt cx="10241280" cy="8290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530" r="0" b="-19053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0976" y="3080385"/>
            <a:ext cx="7680960" cy="650367"/>
            <a:chOff x="0" y="0"/>
            <a:chExt cx="10241280" cy="8671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867156"/>
            </a:xfrm>
            <a:custGeom>
              <a:avLst/>
              <a:gdLst/>
              <a:ahLst/>
              <a:cxnLst/>
              <a:rect r="r" b="b" t="t" l="l"/>
              <a:pathLst>
                <a:path h="8671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22" r="0" b="-18012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241280" cy="905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Heavy dependence on manual decision-making causing delays and congestion.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633727" y="4163311"/>
            <a:ext cx="8242364" cy="1366076"/>
          </a:xfrm>
          <a:custGeom>
            <a:avLst/>
            <a:gdLst/>
            <a:ahLst/>
            <a:cxnLst/>
            <a:rect r="r" b="b" t="t" l="l"/>
            <a:pathLst>
              <a:path h="1366076" w="8242364">
                <a:moveTo>
                  <a:pt x="0" y="0"/>
                </a:moveTo>
                <a:lnTo>
                  <a:pt x="8242363" y="0"/>
                </a:lnTo>
                <a:lnTo>
                  <a:pt x="8242363" y="1366075"/>
                </a:lnTo>
                <a:lnTo>
                  <a:pt x="0" y="136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640080" y="4169664"/>
            <a:ext cx="109728" cy="1353312"/>
            <a:chOff x="0" y="0"/>
            <a:chExt cx="146304" cy="18044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50976" y="4242816"/>
            <a:ext cx="7680960" cy="512064"/>
            <a:chOff x="0" y="0"/>
            <a:chExt cx="1024128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50976" y="4207097"/>
            <a:ext cx="7680960" cy="547783"/>
            <a:chOff x="0" y="0"/>
            <a:chExt cx="10241280" cy="73037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41280" cy="730377"/>
            </a:xfrm>
            <a:custGeom>
              <a:avLst/>
              <a:gdLst/>
              <a:ahLst/>
              <a:cxnLst/>
              <a:rect r="r" b="b" t="t" l="l"/>
              <a:pathLst>
                <a:path h="73037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217" r="0" b="-22321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024128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Throughput Issues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50976" y="4754880"/>
            <a:ext cx="7680960" cy="621792"/>
            <a:chOff x="0" y="0"/>
            <a:chExt cx="10241280" cy="8290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530" r="0" b="-19053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50976" y="4726305"/>
            <a:ext cx="7680960" cy="650367"/>
            <a:chOff x="0" y="0"/>
            <a:chExt cx="10241280" cy="8671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241280" cy="867156"/>
            </a:xfrm>
            <a:custGeom>
              <a:avLst/>
              <a:gdLst/>
              <a:ahLst/>
              <a:cxnLst/>
              <a:rect r="r" b="b" t="t" l="l"/>
              <a:pathLst>
                <a:path h="8671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22" r="0" b="-18012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241280" cy="905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Inefficient section utilization reduces safe train throughput.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633727" y="5809231"/>
            <a:ext cx="8242364" cy="1366076"/>
          </a:xfrm>
          <a:custGeom>
            <a:avLst/>
            <a:gdLst/>
            <a:ahLst/>
            <a:cxnLst/>
            <a:rect r="r" b="b" t="t" l="l"/>
            <a:pathLst>
              <a:path h="1366076" w="8242364">
                <a:moveTo>
                  <a:pt x="0" y="0"/>
                </a:moveTo>
                <a:lnTo>
                  <a:pt x="8242363" y="0"/>
                </a:lnTo>
                <a:lnTo>
                  <a:pt x="8242363" y="1366075"/>
                </a:lnTo>
                <a:lnTo>
                  <a:pt x="0" y="136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640080" y="5815584"/>
            <a:ext cx="109728" cy="1353312"/>
            <a:chOff x="0" y="0"/>
            <a:chExt cx="146304" cy="18044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304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50976" y="5888736"/>
            <a:ext cx="7680960" cy="512064"/>
            <a:chOff x="0" y="0"/>
            <a:chExt cx="10241280" cy="6827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50976" y="5853017"/>
            <a:ext cx="7680960" cy="547783"/>
            <a:chOff x="0" y="0"/>
            <a:chExt cx="10241280" cy="73037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41280" cy="730377"/>
            </a:xfrm>
            <a:custGeom>
              <a:avLst/>
              <a:gdLst/>
              <a:ahLst/>
              <a:cxnLst/>
              <a:rect r="r" b="b" t="t" l="l"/>
              <a:pathLst>
                <a:path h="73037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217" r="0" b="-22321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024128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Human Error Risks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50976" y="6400800"/>
            <a:ext cx="7680960" cy="621792"/>
            <a:chOff x="0" y="0"/>
            <a:chExt cx="10241280" cy="8290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530" r="0" b="-19053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50976" y="6372225"/>
            <a:ext cx="7680960" cy="650367"/>
            <a:chOff x="0" y="0"/>
            <a:chExt cx="10241280" cy="8671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241280" cy="867156"/>
            </a:xfrm>
            <a:custGeom>
              <a:avLst/>
              <a:gdLst/>
              <a:ahLst/>
              <a:cxnLst/>
              <a:rect r="r" b="b" t="t" l="l"/>
              <a:pathLst>
                <a:path h="8671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22" r="0" b="-18012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0241280" cy="905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processes increase safety risks and degrade passenger experience.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633727" y="7455151"/>
            <a:ext cx="8242364" cy="1366076"/>
          </a:xfrm>
          <a:custGeom>
            <a:avLst/>
            <a:gdLst/>
            <a:ahLst/>
            <a:cxnLst/>
            <a:rect r="r" b="b" t="t" l="l"/>
            <a:pathLst>
              <a:path h="1366076" w="8242364">
                <a:moveTo>
                  <a:pt x="0" y="0"/>
                </a:moveTo>
                <a:lnTo>
                  <a:pt x="8242363" y="0"/>
                </a:lnTo>
                <a:lnTo>
                  <a:pt x="8242363" y="1366075"/>
                </a:lnTo>
                <a:lnTo>
                  <a:pt x="0" y="136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640080" y="7461504"/>
            <a:ext cx="109728" cy="1353312"/>
            <a:chOff x="0" y="0"/>
            <a:chExt cx="146304" cy="18044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6304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50976" y="7534656"/>
            <a:ext cx="7680960" cy="512064"/>
            <a:chOff x="0" y="0"/>
            <a:chExt cx="10241280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50976" y="7498937"/>
            <a:ext cx="7680960" cy="547783"/>
            <a:chOff x="0" y="0"/>
            <a:chExt cx="10241280" cy="73037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241280" cy="730377"/>
            </a:xfrm>
            <a:custGeom>
              <a:avLst/>
              <a:gdLst/>
              <a:ahLst/>
              <a:cxnLst/>
              <a:rect r="r" b="b" t="t" l="l"/>
              <a:pathLst>
                <a:path h="73037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217" r="0" b="-22321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024128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Static Scheduling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50976" y="8046720"/>
            <a:ext cx="7680960" cy="621792"/>
            <a:chOff x="0" y="0"/>
            <a:chExt cx="10241280" cy="8290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530" r="0" b="-19053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50976" y="8018145"/>
            <a:ext cx="7680960" cy="650367"/>
            <a:chOff x="0" y="0"/>
            <a:chExt cx="10241280" cy="86715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41280" cy="867156"/>
            </a:xfrm>
            <a:custGeom>
              <a:avLst/>
              <a:gdLst/>
              <a:ahLst/>
              <a:cxnLst/>
              <a:rect r="r" b="b" t="t" l="l"/>
              <a:pathLst>
                <a:path h="8671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22" r="0" b="-18012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241280" cy="905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Inability to adapt to real-time disruptions or emergencies.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9411967" y="2517391"/>
            <a:ext cx="8242363" cy="1366076"/>
          </a:xfrm>
          <a:custGeom>
            <a:avLst/>
            <a:gdLst/>
            <a:ahLst/>
            <a:cxnLst/>
            <a:rect r="r" b="b" t="t" l="l"/>
            <a:pathLst>
              <a:path h="1366076" w="8242363">
                <a:moveTo>
                  <a:pt x="0" y="0"/>
                </a:moveTo>
                <a:lnTo>
                  <a:pt x="8242363" y="0"/>
                </a:lnTo>
                <a:lnTo>
                  <a:pt x="8242363" y="1366075"/>
                </a:lnTo>
                <a:lnTo>
                  <a:pt x="0" y="136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418320" y="2523744"/>
            <a:ext cx="109728" cy="1353312"/>
            <a:chOff x="0" y="0"/>
            <a:chExt cx="146304" cy="180441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6304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729216" y="2596896"/>
            <a:ext cx="7680960" cy="512064"/>
            <a:chOff x="0" y="0"/>
            <a:chExt cx="1024128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729216" y="2561177"/>
            <a:ext cx="7680960" cy="547783"/>
            <a:chOff x="0" y="0"/>
            <a:chExt cx="10241280" cy="73037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241280" cy="730377"/>
            </a:xfrm>
            <a:custGeom>
              <a:avLst/>
              <a:gdLst/>
              <a:ahLst/>
              <a:cxnLst/>
              <a:rect r="r" b="b" t="t" l="l"/>
              <a:pathLst>
                <a:path h="73037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217" r="0" b="-22321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1024128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AI-Driven Scheduling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729216" y="3108960"/>
            <a:ext cx="7680960" cy="621792"/>
            <a:chOff x="0" y="0"/>
            <a:chExt cx="10241280" cy="8290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530" r="0" b="-19053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729216" y="3080385"/>
            <a:ext cx="7680960" cy="650367"/>
            <a:chOff x="0" y="0"/>
            <a:chExt cx="10241280" cy="86715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241280" cy="867156"/>
            </a:xfrm>
            <a:custGeom>
              <a:avLst/>
              <a:gdLst/>
              <a:ahLst/>
              <a:cxnLst/>
              <a:rect r="r" b="b" t="t" l="l"/>
              <a:pathLst>
                <a:path h="8671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22" r="0" b="-18012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0241280" cy="905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Dynamic, conflict-free scheduling to maximize section throughput.</a:t>
              </a: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0">
            <a:off x="9411967" y="4163311"/>
            <a:ext cx="8242363" cy="1366076"/>
          </a:xfrm>
          <a:custGeom>
            <a:avLst/>
            <a:gdLst/>
            <a:ahLst/>
            <a:cxnLst/>
            <a:rect r="r" b="b" t="t" l="l"/>
            <a:pathLst>
              <a:path h="1366076" w="8242363">
                <a:moveTo>
                  <a:pt x="0" y="0"/>
                </a:moveTo>
                <a:lnTo>
                  <a:pt x="8242363" y="0"/>
                </a:lnTo>
                <a:lnTo>
                  <a:pt x="8242363" y="1366075"/>
                </a:lnTo>
                <a:lnTo>
                  <a:pt x="0" y="136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9418320" y="4169664"/>
            <a:ext cx="109728" cy="1353312"/>
            <a:chOff x="0" y="0"/>
            <a:chExt cx="146304" cy="180441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46304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729216" y="4242816"/>
            <a:ext cx="7680960" cy="512064"/>
            <a:chOff x="0" y="0"/>
            <a:chExt cx="10241280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729216" y="4207097"/>
            <a:ext cx="7680960" cy="547783"/>
            <a:chOff x="0" y="0"/>
            <a:chExt cx="10241280" cy="73037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241280" cy="730377"/>
            </a:xfrm>
            <a:custGeom>
              <a:avLst/>
              <a:gdLst/>
              <a:ahLst/>
              <a:cxnLst/>
              <a:rect r="r" b="b" t="t" l="l"/>
              <a:pathLst>
                <a:path h="73037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217" r="0" b="-22321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024128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Rapid Re-optimization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729216" y="4754880"/>
            <a:ext cx="7680960" cy="621792"/>
            <a:chOff x="0" y="0"/>
            <a:chExt cx="10241280" cy="82905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530" r="0" b="-19053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729216" y="4726305"/>
            <a:ext cx="7680960" cy="650367"/>
            <a:chOff x="0" y="0"/>
            <a:chExt cx="10241280" cy="8671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241280" cy="867156"/>
            </a:xfrm>
            <a:custGeom>
              <a:avLst/>
              <a:gdLst/>
              <a:ahLst/>
              <a:cxnLst/>
              <a:rect r="r" b="b" t="t" l="l"/>
              <a:pathLst>
                <a:path h="8671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22" r="0" b="-18012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10241280" cy="905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adjustments during unexpected disruptions.</a:t>
              </a:r>
            </a:p>
          </p:txBody>
        </p:sp>
      </p:grpSp>
      <p:sp>
        <p:nvSpPr>
          <p:cNvPr name="Freeform 115" id="115"/>
          <p:cNvSpPr/>
          <p:nvPr/>
        </p:nvSpPr>
        <p:spPr>
          <a:xfrm flipH="false" flipV="false" rot="0">
            <a:off x="9411967" y="5809231"/>
            <a:ext cx="8242363" cy="1366076"/>
          </a:xfrm>
          <a:custGeom>
            <a:avLst/>
            <a:gdLst/>
            <a:ahLst/>
            <a:cxnLst/>
            <a:rect r="r" b="b" t="t" l="l"/>
            <a:pathLst>
              <a:path h="1366076" w="8242363">
                <a:moveTo>
                  <a:pt x="0" y="0"/>
                </a:moveTo>
                <a:lnTo>
                  <a:pt x="8242363" y="0"/>
                </a:lnTo>
                <a:lnTo>
                  <a:pt x="8242363" y="1366075"/>
                </a:lnTo>
                <a:lnTo>
                  <a:pt x="0" y="136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6" id="116"/>
          <p:cNvGrpSpPr/>
          <p:nvPr/>
        </p:nvGrpSpPr>
        <p:grpSpPr>
          <a:xfrm rot="0">
            <a:off x="9418320" y="5815584"/>
            <a:ext cx="109728" cy="1353312"/>
            <a:chOff x="0" y="0"/>
            <a:chExt cx="146304" cy="180441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46304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729216" y="5888736"/>
            <a:ext cx="7680960" cy="512064"/>
            <a:chOff x="0" y="0"/>
            <a:chExt cx="10241280" cy="68275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729216" y="5853017"/>
            <a:ext cx="7680960" cy="547783"/>
            <a:chOff x="0" y="0"/>
            <a:chExt cx="10241280" cy="730377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241280" cy="730377"/>
            </a:xfrm>
            <a:custGeom>
              <a:avLst/>
              <a:gdLst/>
              <a:ahLst/>
              <a:cxnLst/>
              <a:rect r="r" b="b" t="t" l="l"/>
              <a:pathLst>
                <a:path h="73037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217" r="0" b="-223217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1024128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Dashboard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729216" y="6400800"/>
            <a:ext cx="7680960" cy="621792"/>
            <a:chOff x="0" y="0"/>
            <a:chExt cx="10241280" cy="82905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530" r="0" b="-190530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729216" y="6372225"/>
            <a:ext cx="7680960" cy="650367"/>
            <a:chOff x="0" y="0"/>
            <a:chExt cx="10241280" cy="86715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241280" cy="867156"/>
            </a:xfrm>
            <a:custGeom>
              <a:avLst/>
              <a:gdLst/>
              <a:ahLst/>
              <a:cxnLst/>
              <a:rect r="r" b="b" t="t" l="l"/>
              <a:pathLst>
                <a:path h="8671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22" r="0" b="-18012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0241280" cy="905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Intuitive interface for station controllers with manual override.</a:t>
              </a:r>
            </a:p>
          </p:txBody>
        </p:sp>
      </p:grpSp>
      <p:sp>
        <p:nvSpPr>
          <p:cNvPr name="Freeform 128" id="128"/>
          <p:cNvSpPr/>
          <p:nvPr/>
        </p:nvSpPr>
        <p:spPr>
          <a:xfrm flipH="false" flipV="false" rot="0">
            <a:off x="9411967" y="7455151"/>
            <a:ext cx="8242363" cy="1366076"/>
          </a:xfrm>
          <a:custGeom>
            <a:avLst/>
            <a:gdLst/>
            <a:ahLst/>
            <a:cxnLst/>
            <a:rect r="r" b="b" t="t" l="l"/>
            <a:pathLst>
              <a:path h="1366076" w="8242363">
                <a:moveTo>
                  <a:pt x="0" y="0"/>
                </a:moveTo>
                <a:lnTo>
                  <a:pt x="8242363" y="0"/>
                </a:lnTo>
                <a:lnTo>
                  <a:pt x="8242363" y="1366075"/>
                </a:lnTo>
                <a:lnTo>
                  <a:pt x="0" y="136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9" id="129"/>
          <p:cNvGrpSpPr/>
          <p:nvPr/>
        </p:nvGrpSpPr>
        <p:grpSpPr>
          <a:xfrm rot="0">
            <a:off x="9418320" y="7461504"/>
            <a:ext cx="109728" cy="1353312"/>
            <a:chOff x="0" y="0"/>
            <a:chExt cx="146304" cy="180441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46304" cy="1804416"/>
            </a:xfrm>
            <a:custGeom>
              <a:avLst/>
              <a:gdLst/>
              <a:ahLst/>
              <a:cxnLst/>
              <a:rect r="r" b="b" t="t" l="l"/>
              <a:pathLst>
                <a:path h="180441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729216" y="7534656"/>
            <a:ext cx="7680960" cy="512064"/>
            <a:chOff x="0" y="0"/>
            <a:chExt cx="10241280" cy="68275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729216" y="7498937"/>
            <a:ext cx="7680960" cy="547783"/>
            <a:chOff x="0" y="0"/>
            <a:chExt cx="10241280" cy="730377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0241280" cy="730377"/>
            </a:xfrm>
            <a:custGeom>
              <a:avLst/>
              <a:gdLst/>
              <a:ahLst/>
              <a:cxnLst/>
              <a:rect r="r" b="b" t="t" l="l"/>
              <a:pathLst>
                <a:path h="73037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217" r="0" b="-223217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47625"/>
              <a:ext cx="1024128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GPS &amp; IoT Integration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729216" y="8046720"/>
            <a:ext cx="7680960" cy="621792"/>
            <a:chOff x="0" y="0"/>
            <a:chExt cx="10241280" cy="82905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0241280" cy="829056"/>
            </a:xfrm>
            <a:custGeom>
              <a:avLst/>
              <a:gdLst/>
              <a:ahLst/>
              <a:cxnLst/>
              <a:rect r="r" b="b" t="t" l="l"/>
              <a:pathLst>
                <a:path h="8290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530" r="0" b="-190530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9729216" y="8018145"/>
            <a:ext cx="7680960" cy="650367"/>
            <a:chOff x="0" y="0"/>
            <a:chExt cx="10241280" cy="8671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0241280" cy="867156"/>
            </a:xfrm>
            <a:custGeom>
              <a:avLst/>
              <a:gdLst/>
              <a:ahLst/>
              <a:cxnLst/>
              <a:rect r="r" b="b" t="t" l="l"/>
              <a:pathLst>
                <a:path h="8671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67156"/>
                  </a:lnTo>
                  <a:lnTo>
                    <a:pt x="0" y="867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22" r="0" b="-180122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10241280" cy="905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Seamless real-time data from sensors and railway APIs.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640080" y="9217152"/>
            <a:ext cx="17007840" cy="804672"/>
            <a:chOff x="0" y="0"/>
            <a:chExt cx="22677120" cy="107289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2677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822960" y="9217152"/>
            <a:ext cx="16642080" cy="804672"/>
            <a:chOff x="0" y="0"/>
            <a:chExt cx="22189440" cy="107289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2189439" cy="1072896"/>
            </a:xfrm>
            <a:custGeom>
              <a:avLst/>
              <a:gdLst/>
              <a:ahLst/>
              <a:cxnLst/>
              <a:rect r="r" b="b" t="t" l="l"/>
              <a:pathLst>
                <a:path h="1072896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705" r="0" b="-352705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822960" y="9188577"/>
            <a:ext cx="16642080" cy="833247"/>
            <a:chOff x="0" y="0"/>
            <a:chExt cx="22189440" cy="111099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2189439" cy="1110996"/>
            </a:xfrm>
            <a:custGeom>
              <a:avLst/>
              <a:gdLst/>
              <a:ahLst/>
              <a:cxnLst/>
              <a:rect r="r" b="b" t="t" l="l"/>
              <a:pathLst>
                <a:path h="1110996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166" r="0" b="-339166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2218944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D4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OUR PROPOSAL  —  An AI-driven, rule-based system integrating GPS, IoT, and Railway APIs to optimize platform allocation and scheduling for safer, smoother operations.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0"/>
            <a:chOff x="0" y="0"/>
            <a:chExt cx="243840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402336" cy="1280160"/>
            <a:chOff x="0" y="0"/>
            <a:chExt cx="536448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6448" cy="1706880"/>
            </a:xfrm>
            <a:custGeom>
              <a:avLst/>
              <a:gdLst/>
              <a:ahLst/>
              <a:cxnLst/>
              <a:rect r="r" b="b" t="t" l="l"/>
              <a:pathLst>
                <a:path h="170688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8096" y="0"/>
            <a:ext cx="15544800" cy="1280160"/>
            <a:chOff x="0" y="0"/>
            <a:chExt cx="20726400" cy="1706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439" r="0" b="-18643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8096" y="-42862"/>
            <a:ext cx="15544800" cy="1323023"/>
            <a:chOff x="0" y="0"/>
            <a:chExt cx="20726400" cy="17640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1764030"/>
            </a:xfrm>
            <a:custGeom>
              <a:avLst/>
              <a:gdLst/>
              <a:ahLst/>
              <a:cxnLst/>
              <a:rect r="r" b="b" t="t" l="l"/>
              <a:pathLst>
                <a:path h="176403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64030"/>
                  </a:lnTo>
                  <a:lnTo>
                    <a:pt x="0" y="1764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938" r="0" b="-1789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7264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spc="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APPROACH &amp; TECHNOLOGY STACK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0" y="0"/>
            <a:ext cx="3291840" cy="1280160"/>
            <a:chOff x="0" y="0"/>
            <a:chExt cx="438912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9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" r="0" b="-6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0400" y="-21431"/>
            <a:ext cx="3291840" cy="1301591"/>
            <a:chOff x="0" y="0"/>
            <a:chExt cx="4389120" cy="17354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1735455"/>
            </a:xfrm>
            <a:custGeom>
              <a:avLst/>
              <a:gdLst/>
              <a:ahLst/>
              <a:cxnLst/>
              <a:rect r="r" b="b" t="t" l="l"/>
              <a:pathLst>
                <a:path h="1735455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35455"/>
                  </a:lnTo>
                  <a:lnTo>
                    <a:pt x="0" y="17354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" t="0" r="-731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38912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PROJECT — II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07840" y="9509760"/>
            <a:ext cx="914400" cy="548640"/>
            <a:chOff x="0" y="0"/>
            <a:chExt cx="12192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5" t="0" r="-2703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007840" y="9481185"/>
            <a:ext cx="914400" cy="577215"/>
            <a:chOff x="0" y="0"/>
            <a:chExt cx="1219200" cy="7696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t="0" r="-3099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19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0080" y="1554480"/>
            <a:ext cx="109728" cy="585216"/>
            <a:chOff x="0" y="0"/>
            <a:chExt cx="146304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" cy="780288"/>
            </a:xfrm>
            <a:custGeom>
              <a:avLst/>
              <a:gdLst/>
              <a:ahLst/>
              <a:cxnLst/>
              <a:rect r="r" b="b" t="t" l="l"/>
              <a:pathLst>
                <a:path h="78028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0976" y="1554480"/>
            <a:ext cx="7315200" cy="585216"/>
            <a:chOff x="0" y="0"/>
            <a:chExt cx="975360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393" r="0" b="-193393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0976" y="1511618"/>
            <a:ext cx="7315200" cy="628078"/>
            <a:chOff x="0" y="0"/>
            <a:chExt cx="9753600" cy="8374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837438"/>
            </a:xfrm>
            <a:custGeom>
              <a:avLst/>
              <a:gdLst/>
              <a:ahLst/>
              <a:cxnLst/>
              <a:rect r="r" b="b" t="t" l="l"/>
              <a:pathLst>
                <a:path h="83743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37438"/>
                  </a:lnTo>
                  <a:lnTo>
                    <a:pt x="0" y="837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941" r="0" b="-17694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753600" cy="894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633727" y="2371087"/>
            <a:ext cx="5426012" cy="3341179"/>
          </a:xfrm>
          <a:custGeom>
            <a:avLst/>
            <a:gdLst/>
            <a:ahLst/>
            <a:cxnLst/>
            <a:rect r="r" b="b" t="t" l="l"/>
            <a:pathLst>
              <a:path h="3341179" w="5426012">
                <a:moveTo>
                  <a:pt x="0" y="0"/>
                </a:moveTo>
                <a:lnTo>
                  <a:pt x="5426011" y="0"/>
                </a:lnTo>
                <a:lnTo>
                  <a:pt x="5426011" y="3341179"/>
                </a:lnTo>
                <a:lnTo>
                  <a:pt x="0" y="3341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640080" y="2377440"/>
            <a:ext cx="5413248" cy="146304"/>
            <a:chOff x="0" y="0"/>
            <a:chExt cx="7217664" cy="195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17664" cy="195072"/>
            </a:xfrm>
            <a:custGeom>
              <a:avLst/>
              <a:gdLst/>
              <a:ahLst/>
              <a:cxnLst/>
              <a:rect r="r" b="b" t="t" l="l"/>
              <a:pathLst>
                <a:path h="195072" w="7217664">
                  <a:moveTo>
                    <a:pt x="0" y="0"/>
                  </a:moveTo>
                  <a:lnTo>
                    <a:pt x="7217664" y="0"/>
                  </a:lnTo>
                  <a:lnTo>
                    <a:pt x="7217664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96112" y="2706624"/>
            <a:ext cx="2011680" cy="475488"/>
            <a:chOff x="0" y="0"/>
            <a:chExt cx="2682240" cy="6339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560320" y="0"/>
                  </a:lnTo>
                  <a:cubicBezTo>
                    <a:pt x="2627630" y="0"/>
                    <a:pt x="2682240" y="54610"/>
                    <a:pt x="2682240" y="121920"/>
                  </a:cubicBezTo>
                  <a:lnTo>
                    <a:pt x="2682240" y="512064"/>
                  </a:lnTo>
                  <a:cubicBezTo>
                    <a:pt x="2682240" y="579374"/>
                    <a:pt x="2627630" y="633984"/>
                    <a:pt x="2560320" y="633984"/>
                  </a:cubicBezTo>
                  <a:lnTo>
                    <a:pt x="121920" y="633984"/>
                  </a:lnTo>
                  <a:cubicBezTo>
                    <a:pt x="54610" y="633984"/>
                    <a:pt x="0" y="579374"/>
                    <a:pt x="0" y="512064"/>
                  </a:cubicBezTo>
                  <a:close/>
                </a:path>
              </a:pathLst>
            </a:custGeom>
            <a:solidFill>
              <a:srgbClr val="F0F3F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96112" y="2706624"/>
            <a:ext cx="2011680" cy="475488"/>
            <a:chOff x="0" y="0"/>
            <a:chExt cx="2682240" cy="6339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79" r="0" b="-32379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96112" y="2678049"/>
            <a:ext cx="2011680" cy="504063"/>
            <a:chOff x="0" y="0"/>
            <a:chExt cx="2682240" cy="6720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82240" cy="672084"/>
            </a:xfrm>
            <a:custGeom>
              <a:avLst/>
              <a:gdLst/>
              <a:ahLst/>
              <a:cxnLst/>
              <a:rect r="r" b="b" t="t" l="l"/>
              <a:pathLst>
                <a:path h="6720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63" r="0" b="-2776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682240" cy="710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96112" y="3328416"/>
            <a:ext cx="4901184" cy="804672"/>
            <a:chOff x="0" y="0"/>
            <a:chExt cx="6534912" cy="10728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349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98" r="0" b="-68599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96112" y="3299841"/>
            <a:ext cx="4901184" cy="833247"/>
            <a:chOff x="0" y="0"/>
            <a:chExt cx="6534912" cy="11109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34912" cy="1110996"/>
            </a:xfrm>
            <a:custGeom>
              <a:avLst/>
              <a:gdLst/>
              <a:ahLst/>
              <a:cxnLst/>
              <a:rect r="r" b="b" t="t" l="l"/>
              <a:pathLst>
                <a:path h="11109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1" r="0" b="-6461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534912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ReactJS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96112" y="4169664"/>
            <a:ext cx="4901184" cy="1243584"/>
            <a:chOff x="0" y="0"/>
            <a:chExt cx="6534912" cy="16581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349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40" r="0" b="-2674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96112" y="4141089"/>
            <a:ext cx="4901184" cy="1272159"/>
            <a:chOff x="0" y="0"/>
            <a:chExt cx="6534912" cy="16962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34912" cy="1696212"/>
            </a:xfrm>
            <a:custGeom>
              <a:avLst/>
              <a:gdLst/>
              <a:ahLst/>
              <a:cxnLst/>
              <a:rect r="r" b="b" t="t" l="l"/>
              <a:pathLst>
                <a:path h="16962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96212"/>
                  </a:lnTo>
                  <a:lnTo>
                    <a:pt x="0" y="16962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9" r="0" b="-2506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534912" cy="1734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Responsive dashboard for station controllers.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6339583" y="2371087"/>
            <a:ext cx="5426012" cy="3341179"/>
          </a:xfrm>
          <a:custGeom>
            <a:avLst/>
            <a:gdLst/>
            <a:ahLst/>
            <a:cxnLst/>
            <a:rect r="r" b="b" t="t" l="l"/>
            <a:pathLst>
              <a:path h="3341179" w="5426012">
                <a:moveTo>
                  <a:pt x="0" y="0"/>
                </a:moveTo>
                <a:lnTo>
                  <a:pt x="5426011" y="0"/>
                </a:lnTo>
                <a:lnTo>
                  <a:pt x="5426011" y="3341179"/>
                </a:lnTo>
                <a:lnTo>
                  <a:pt x="0" y="3341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6345936" y="2377440"/>
            <a:ext cx="5413248" cy="146304"/>
            <a:chOff x="0" y="0"/>
            <a:chExt cx="7217664" cy="1950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17664" cy="195072"/>
            </a:xfrm>
            <a:custGeom>
              <a:avLst/>
              <a:gdLst/>
              <a:ahLst/>
              <a:cxnLst/>
              <a:rect r="r" b="b" t="t" l="l"/>
              <a:pathLst>
                <a:path h="195072" w="7217664">
                  <a:moveTo>
                    <a:pt x="0" y="0"/>
                  </a:moveTo>
                  <a:lnTo>
                    <a:pt x="7217664" y="0"/>
                  </a:lnTo>
                  <a:lnTo>
                    <a:pt x="7217664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601968" y="2706624"/>
            <a:ext cx="2011680" cy="475488"/>
            <a:chOff x="0" y="0"/>
            <a:chExt cx="2682240" cy="6339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560320" y="0"/>
                  </a:lnTo>
                  <a:cubicBezTo>
                    <a:pt x="2627630" y="0"/>
                    <a:pt x="2682240" y="54610"/>
                    <a:pt x="2682240" y="121920"/>
                  </a:cubicBezTo>
                  <a:lnTo>
                    <a:pt x="2682240" y="512064"/>
                  </a:lnTo>
                  <a:cubicBezTo>
                    <a:pt x="2682240" y="579374"/>
                    <a:pt x="2627630" y="633984"/>
                    <a:pt x="2560320" y="633984"/>
                  </a:cubicBezTo>
                  <a:lnTo>
                    <a:pt x="121920" y="633984"/>
                  </a:lnTo>
                  <a:cubicBezTo>
                    <a:pt x="54610" y="633984"/>
                    <a:pt x="0" y="579374"/>
                    <a:pt x="0" y="512064"/>
                  </a:cubicBezTo>
                  <a:close/>
                </a:path>
              </a:pathLst>
            </a:custGeom>
            <a:solidFill>
              <a:srgbClr val="F0F3F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601968" y="2706624"/>
            <a:ext cx="2011680" cy="475488"/>
            <a:chOff x="0" y="0"/>
            <a:chExt cx="2682240" cy="6339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79" r="0" b="-32379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601968" y="2678049"/>
            <a:ext cx="2011680" cy="504063"/>
            <a:chOff x="0" y="0"/>
            <a:chExt cx="2682240" cy="6720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682240" cy="672084"/>
            </a:xfrm>
            <a:custGeom>
              <a:avLst/>
              <a:gdLst/>
              <a:ahLst/>
              <a:cxnLst/>
              <a:rect r="r" b="b" t="t" l="l"/>
              <a:pathLst>
                <a:path h="6720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63" r="0" b="-2776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682240" cy="710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601968" y="3328416"/>
            <a:ext cx="4901184" cy="804672"/>
            <a:chOff x="0" y="0"/>
            <a:chExt cx="6534912" cy="10728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5349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98" r="0" b="-6859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601968" y="3299841"/>
            <a:ext cx="4901184" cy="833247"/>
            <a:chOff x="0" y="0"/>
            <a:chExt cx="6534912" cy="11109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34912" cy="1110996"/>
            </a:xfrm>
            <a:custGeom>
              <a:avLst/>
              <a:gdLst/>
              <a:ahLst/>
              <a:cxnLst/>
              <a:rect r="r" b="b" t="t" l="l"/>
              <a:pathLst>
                <a:path h="11109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1" r="0" b="-6461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534912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· Django · Node.js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601968" y="4169664"/>
            <a:ext cx="4901184" cy="1243584"/>
            <a:chOff x="0" y="0"/>
            <a:chExt cx="6534912" cy="16581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5349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40" r="0" b="-2674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601968" y="4141089"/>
            <a:ext cx="4901184" cy="1272159"/>
            <a:chOff x="0" y="0"/>
            <a:chExt cx="6534912" cy="16962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34912" cy="1696212"/>
            </a:xfrm>
            <a:custGeom>
              <a:avLst/>
              <a:gdLst/>
              <a:ahLst/>
              <a:cxnLst/>
              <a:rect r="r" b="b" t="t" l="l"/>
              <a:pathLst>
                <a:path h="16962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96212"/>
                  </a:lnTo>
                  <a:lnTo>
                    <a:pt x="0" y="16962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9" r="0" b="-2506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534912" cy="1734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High-performance processing and REST API layer.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12045439" y="2371087"/>
            <a:ext cx="5426011" cy="3341179"/>
          </a:xfrm>
          <a:custGeom>
            <a:avLst/>
            <a:gdLst/>
            <a:ahLst/>
            <a:cxnLst/>
            <a:rect r="r" b="b" t="t" l="l"/>
            <a:pathLst>
              <a:path h="3341179" w="5426011">
                <a:moveTo>
                  <a:pt x="0" y="0"/>
                </a:moveTo>
                <a:lnTo>
                  <a:pt x="5426011" y="0"/>
                </a:lnTo>
                <a:lnTo>
                  <a:pt x="5426011" y="3341179"/>
                </a:lnTo>
                <a:lnTo>
                  <a:pt x="0" y="3341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2051792" y="2377440"/>
            <a:ext cx="5413248" cy="146304"/>
            <a:chOff x="0" y="0"/>
            <a:chExt cx="7217664" cy="19507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217664" cy="195072"/>
            </a:xfrm>
            <a:custGeom>
              <a:avLst/>
              <a:gdLst/>
              <a:ahLst/>
              <a:cxnLst/>
              <a:rect r="r" b="b" t="t" l="l"/>
              <a:pathLst>
                <a:path h="195072" w="7217664">
                  <a:moveTo>
                    <a:pt x="0" y="0"/>
                  </a:moveTo>
                  <a:lnTo>
                    <a:pt x="7217664" y="0"/>
                  </a:lnTo>
                  <a:lnTo>
                    <a:pt x="7217664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307824" y="2706624"/>
            <a:ext cx="2011680" cy="475488"/>
            <a:chOff x="0" y="0"/>
            <a:chExt cx="2682240" cy="6339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560320" y="0"/>
                  </a:lnTo>
                  <a:cubicBezTo>
                    <a:pt x="2627630" y="0"/>
                    <a:pt x="2682240" y="54610"/>
                    <a:pt x="2682240" y="121920"/>
                  </a:cubicBezTo>
                  <a:lnTo>
                    <a:pt x="2682240" y="512064"/>
                  </a:lnTo>
                  <a:cubicBezTo>
                    <a:pt x="2682240" y="579374"/>
                    <a:pt x="2627630" y="633984"/>
                    <a:pt x="2560320" y="633984"/>
                  </a:cubicBezTo>
                  <a:lnTo>
                    <a:pt x="121920" y="633984"/>
                  </a:lnTo>
                  <a:cubicBezTo>
                    <a:pt x="54610" y="633984"/>
                    <a:pt x="0" y="579374"/>
                    <a:pt x="0" y="512064"/>
                  </a:cubicBezTo>
                  <a:close/>
                </a:path>
              </a:pathLst>
            </a:custGeom>
            <a:solidFill>
              <a:srgbClr val="F0F3F7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307824" y="2706624"/>
            <a:ext cx="2011680" cy="475488"/>
            <a:chOff x="0" y="0"/>
            <a:chExt cx="2682240" cy="63398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79" r="0" b="-32379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307824" y="2678049"/>
            <a:ext cx="2011680" cy="504063"/>
            <a:chOff x="0" y="0"/>
            <a:chExt cx="2682240" cy="67208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682240" cy="672084"/>
            </a:xfrm>
            <a:custGeom>
              <a:avLst/>
              <a:gdLst/>
              <a:ahLst/>
              <a:cxnLst/>
              <a:rect r="r" b="b" t="t" l="l"/>
              <a:pathLst>
                <a:path h="6720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63" r="0" b="-2776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682240" cy="710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307824" y="4169664"/>
            <a:ext cx="4901184" cy="1243584"/>
            <a:chOff x="0" y="0"/>
            <a:chExt cx="6534912" cy="165811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5349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40" r="0" b="-2674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307824" y="4141089"/>
            <a:ext cx="4901184" cy="1272159"/>
            <a:chOff x="0" y="0"/>
            <a:chExt cx="6534912" cy="169621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34912" cy="1696212"/>
            </a:xfrm>
            <a:custGeom>
              <a:avLst/>
              <a:gdLst/>
              <a:ahLst/>
              <a:cxnLst/>
              <a:rect r="r" b="b" t="t" l="l"/>
              <a:pathLst>
                <a:path h="16962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96212"/>
                  </a:lnTo>
                  <a:lnTo>
                    <a:pt x="0" y="16962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9" r="0" b="-2506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534912" cy="1734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storage for schedules and audit logs.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633727" y="6065263"/>
            <a:ext cx="5426012" cy="3341179"/>
          </a:xfrm>
          <a:custGeom>
            <a:avLst/>
            <a:gdLst/>
            <a:ahLst/>
            <a:cxnLst/>
            <a:rect r="r" b="b" t="t" l="l"/>
            <a:pathLst>
              <a:path h="3341179" w="5426012">
                <a:moveTo>
                  <a:pt x="0" y="0"/>
                </a:moveTo>
                <a:lnTo>
                  <a:pt x="5426011" y="0"/>
                </a:lnTo>
                <a:lnTo>
                  <a:pt x="5426011" y="3341179"/>
                </a:lnTo>
                <a:lnTo>
                  <a:pt x="0" y="3341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640080" y="6071616"/>
            <a:ext cx="5413248" cy="146304"/>
            <a:chOff x="0" y="0"/>
            <a:chExt cx="7217664" cy="19507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217664" cy="195072"/>
            </a:xfrm>
            <a:custGeom>
              <a:avLst/>
              <a:gdLst/>
              <a:ahLst/>
              <a:cxnLst/>
              <a:rect r="r" b="b" t="t" l="l"/>
              <a:pathLst>
                <a:path h="195072" w="7217664">
                  <a:moveTo>
                    <a:pt x="0" y="0"/>
                  </a:moveTo>
                  <a:lnTo>
                    <a:pt x="7217664" y="0"/>
                  </a:lnTo>
                  <a:lnTo>
                    <a:pt x="7217664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96112" y="6400800"/>
            <a:ext cx="2011680" cy="475488"/>
            <a:chOff x="0" y="0"/>
            <a:chExt cx="2682240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560320" y="0"/>
                  </a:lnTo>
                  <a:cubicBezTo>
                    <a:pt x="2627630" y="0"/>
                    <a:pt x="2682240" y="54610"/>
                    <a:pt x="2682240" y="121920"/>
                  </a:cubicBezTo>
                  <a:lnTo>
                    <a:pt x="2682240" y="512064"/>
                  </a:lnTo>
                  <a:cubicBezTo>
                    <a:pt x="2682240" y="579374"/>
                    <a:pt x="2627630" y="633984"/>
                    <a:pt x="2560320" y="633984"/>
                  </a:cubicBezTo>
                  <a:lnTo>
                    <a:pt x="121920" y="633984"/>
                  </a:lnTo>
                  <a:cubicBezTo>
                    <a:pt x="54610" y="633984"/>
                    <a:pt x="0" y="579374"/>
                    <a:pt x="0" y="512064"/>
                  </a:cubicBezTo>
                  <a:close/>
                </a:path>
              </a:pathLst>
            </a:custGeom>
            <a:solidFill>
              <a:srgbClr val="F0F3F7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96112" y="6400800"/>
            <a:ext cx="2011680" cy="475488"/>
            <a:chOff x="0" y="0"/>
            <a:chExt cx="2682240" cy="6339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79" r="0" b="-32379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96112" y="6372225"/>
            <a:ext cx="2011680" cy="504063"/>
            <a:chOff x="0" y="0"/>
            <a:chExt cx="2682240" cy="6720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682240" cy="672084"/>
            </a:xfrm>
            <a:custGeom>
              <a:avLst/>
              <a:gdLst/>
              <a:ahLst/>
              <a:cxnLst/>
              <a:rect r="r" b="b" t="t" l="l"/>
              <a:pathLst>
                <a:path h="6720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63" r="0" b="-2776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2682240" cy="710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/ ML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896112" y="7022592"/>
            <a:ext cx="4901184" cy="804672"/>
            <a:chOff x="0" y="0"/>
            <a:chExt cx="6534912" cy="107289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5349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98" r="0" b="-68599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896112" y="6994017"/>
            <a:ext cx="4901184" cy="833247"/>
            <a:chOff x="0" y="0"/>
            <a:chExt cx="6534912" cy="111099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534912" cy="1110996"/>
            </a:xfrm>
            <a:custGeom>
              <a:avLst/>
              <a:gdLst/>
              <a:ahLst/>
              <a:cxnLst/>
              <a:rect r="r" b="b" t="t" l="l"/>
              <a:pathLst>
                <a:path h="11109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1" r="0" b="-6461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534912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TensorFlow · Scikit-learn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96112" y="7863840"/>
            <a:ext cx="4901184" cy="1243584"/>
            <a:chOff x="0" y="0"/>
            <a:chExt cx="6534912" cy="165811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5349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40" r="0" b="-2674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896112" y="7835265"/>
            <a:ext cx="4901184" cy="1272159"/>
            <a:chOff x="0" y="0"/>
            <a:chExt cx="6534912" cy="169621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534912" cy="1696212"/>
            </a:xfrm>
            <a:custGeom>
              <a:avLst/>
              <a:gdLst/>
              <a:ahLst/>
              <a:cxnLst/>
              <a:rect r="r" b="b" t="t" l="l"/>
              <a:pathLst>
                <a:path h="16962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96212"/>
                  </a:lnTo>
                  <a:lnTo>
                    <a:pt x="0" y="16962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9" r="0" b="-2506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6534912" cy="1734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Predictive models for delay forecasting.</a:t>
              </a:r>
            </a:p>
          </p:txBody>
        </p:sp>
      </p:grpSp>
      <p:sp>
        <p:nvSpPr>
          <p:cNvPr name="Freeform 103" id="103"/>
          <p:cNvSpPr/>
          <p:nvPr/>
        </p:nvSpPr>
        <p:spPr>
          <a:xfrm flipH="false" flipV="false" rot="0">
            <a:off x="6339583" y="6065263"/>
            <a:ext cx="5426012" cy="3341179"/>
          </a:xfrm>
          <a:custGeom>
            <a:avLst/>
            <a:gdLst/>
            <a:ahLst/>
            <a:cxnLst/>
            <a:rect r="r" b="b" t="t" l="l"/>
            <a:pathLst>
              <a:path h="3341179" w="5426012">
                <a:moveTo>
                  <a:pt x="0" y="0"/>
                </a:moveTo>
                <a:lnTo>
                  <a:pt x="5426011" y="0"/>
                </a:lnTo>
                <a:lnTo>
                  <a:pt x="5426011" y="3341179"/>
                </a:lnTo>
                <a:lnTo>
                  <a:pt x="0" y="3341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4" id="104"/>
          <p:cNvGrpSpPr/>
          <p:nvPr/>
        </p:nvGrpSpPr>
        <p:grpSpPr>
          <a:xfrm rot="0">
            <a:off x="6345936" y="6071616"/>
            <a:ext cx="5413248" cy="146304"/>
            <a:chOff x="0" y="0"/>
            <a:chExt cx="7217664" cy="19507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217664" cy="195072"/>
            </a:xfrm>
            <a:custGeom>
              <a:avLst/>
              <a:gdLst/>
              <a:ahLst/>
              <a:cxnLst/>
              <a:rect r="r" b="b" t="t" l="l"/>
              <a:pathLst>
                <a:path h="195072" w="7217664">
                  <a:moveTo>
                    <a:pt x="0" y="0"/>
                  </a:moveTo>
                  <a:lnTo>
                    <a:pt x="7217664" y="0"/>
                  </a:lnTo>
                  <a:lnTo>
                    <a:pt x="7217664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601968" y="6400800"/>
            <a:ext cx="2011680" cy="475488"/>
            <a:chOff x="0" y="0"/>
            <a:chExt cx="2682240" cy="6339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560320" y="0"/>
                  </a:lnTo>
                  <a:cubicBezTo>
                    <a:pt x="2627630" y="0"/>
                    <a:pt x="2682240" y="54610"/>
                    <a:pt x="2682240" y="121920"/>
                  </a:cubicBezTo>
                  <a:lnTo>
                    <a:pt x="2682240" y="512064"/>
                  </a:lnTo>
                  <a:cubicBezTo>
                    <a:pt x="2682240" y="579374"/>
                    <a:pt x="2627630" y="633984"/>
                    <a:pt x="2560320" y="633984"/>
                  </a:cubicBezTo>
                  <a:lnTo>
                    <a:pt x="121920" y="633984"/>
                  </a:lnTo>
                  <a:cubicBezTo>
                    <a:pt x="54610" y="633984"/>
                    <a:pt x="0" y="579374"/>
                    <a:pt x="0" y="512064"/>
                  </a:cubicBezTo>
                  <a:close/>
                </a:path>
              </a:pathLst>
            </a:custGeom>
            <a:solidFill>
              <a:srgbClr val="F0F3F7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6601968" y="6400800"/>
            <a:ext cx="2011680" cy="475488"/>
            <a:chOff x="0" y="0"/>
            <a:chExt cx="2682240" cy="63398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79" r="0" b="-32379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6601968" y="6372225"/>
            <a:ext cx="2011680" cy="504063"/>
            <a:chOff x="0" y="0"/>
            <a:chExt cx="2682240" cy="67208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682240" cy="672084"/>
            </a:xfrm>
            <a:custGeom>
              <a:avLst/>
              <a:gdLst/>
              <a:ahLst/>
              <a:cxnLst/>
              <a:rect r="r" b="b" t="t" l="l"/>
              <a:pathLst>
                <a:path h="6720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63" r="0" b="-2776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682240" cy="710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OPTIMIZATION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601968" y="7863840"/>
            <a:ext cx="4901184" cy="1243584"/>
            <a:chOff x="0" y="0"/>
            <a:chExt cx="6534912" cy="165811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5349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40" r="0" b="-2674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6601968" y="7835265"/>
            <a:ext cx="4901184" cy="1272159"/>
            <a:chOff x="0" y="0"/>
            <a:chExt cx="6534912" cy="169621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534912" cy="1696212"/>
            </a:xfrm>
            <a:custGeom>
              <a:avLst/>
              <a:gdLst/>
              <a:ahLst/>
              <a:cxnLst/>
              <a:rect r="r" b="b" t="t" l="l"/>
              <a:pathLst>
                <a:path h="16962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96212"/>
                  </a:lnTo>
                  <a:lnTo>
                    <a:pt x="0" y="16962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9" r="0" b="-25069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6534912" cy="1734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platform allocation algorithms.</a:t>
              </a:r>
            </a:p>
          </p:txBody>
        </p:sp>
      </p:grpSp>
      <p:sp>
        <p:nvSpPr>
          <p:cNvPr name="Freeform 118" id="118"/>
          <p:cNvSpPr/>
          <p:nvPr/>
        </p:nvSpPr>
        <p:spPr>
          <a:xfrm flipH="false" flipV="false" rot="0">
            <a:off x="12045439" y="6065263"/>
            <a:ext cx="5426011" cy="3341179"/>
          </a:xfrm>
          <a:custGeom>
            <a:avLst/>
            <a:gdLst/>
            <a:ahLst/>
            <a:cxnLst/>
            <a:rect r="r" b="b" t="t" l="l"/>
            <a:pathLst>
              <a:path h="3341179" w="5426011">
                <a:moveTo>
                  <a:pt x="0" y="0"/>
                </a:moveTo>
                <a:lnTo>
                  <a:pt x="5426011" y="0"/>
                </a:lnTo>
                <a:lnTo>
                  <a:pt x="5426011" y="3341179"/>
                </a:lnTo>
                <a:lnTo>
                  <a:pt x="0" y="3341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9" id="119"/>
          <p:cNvGrpSpPr/>
          <p:nvPr/>
        </p:nvGrpSpPr>
        <p:grpSpPr>
          <a:xfrm rot="0">
            <a:off x="12051792" y="6071616"/>
            <a:ext cx="5413248" cy="146304"/>
            <a:chOff x="0" y="0"/>
            <a:chExt cx="7217664" cy="19507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217664" cy="195072"/>
            </a:xfrm>
            <a:custGeom>
              <a:avLst/>
              <a:gdLst/>
              <a:ahLst/>
              <a:cxnLst/>
              <a:rect r="r" b="b" t="t" l="l"/>
              <a:pathLst>
                <a:path h="195072" w="7217664">
                  <a:moveTo>
                    <a:pt x="0" y="0"/>
                  </a:moveTo>
                  <a:lnTo>
                    <a:pt x="7217664" y="0"/>
                  </a:lnTo>
                  <a:lnTo>
                    <a:pt x="7217664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2307824" y="6400800"/>
            <a:ext cx="2011680" cy="475488"/>
            <a:chOff x="0" y="0"/>
            <a:chExt cx="2682240" cy="63398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2560320" y="0"/>
                  </a:lnTo>
                  <a:cubicBezTo>
                    <a:pt x="2627630" y="0"/>
                    <a:pt x="2682240" y="54610"/>
                    <a:pt x="2682240" y="121920"/>
                  </a:cubicBezTo>
                  <a:lnTo>
                    <a:pt x="2682240" y="512064"/>
                  </a:lnTo>
                  <a:cubicBezTo>
                    <a:pt x="2682240" y="579374"/>
                    <a:pt x="2627630" y="633984"/>
                    <a:pt x="2560320" y="633984"/>
                  </a:cubicBezTo>
                  <a:lnTo>
                    <a:pt x="121920" y="633984"/>
                  </a:lnTo>
                  <a:cubicBezTo>
                    <a:pt x="54610" y="633984"/>
                    <a:pt x="0" y="579374"/>
                    <a:pt x="0" y="512064"/>
                  </a:cubicBezTo>
                  <a:close/>
                </a:path>
              </a:pathLst>
            </a:custGeom>
            <a:solidFill>
              <a:srgbClr val="F0F3F7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2307824" y="6400800"/>
            <a:ext cx="2011680" cy="475488"/>
            <a:chOff x="0" y="0"/>
            <a:chExt cx="2682240" cy="63398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682240" cy="633984"/>
            </a:xfrm>
            <a:custGeom>
              <a:avLst/>
              <a:gdLst/>
              <a:ahLst/>
              <a:cxnLst/>
              <a:rect r="r" b="b" t="t" l="l"/>
              <a:pathLst>
                <a:path h="6339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379" r="0" b="-32379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2307824" y="6372225"/>
            <a:ext cx="2011680" cy="504063"/>
            <a:chOff x="0" y="0"/>
            <a:chExt cx="2682240" cy="67208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682240" cy="672084"/>
            </a:xfrm>
            <a:custGeom>
              <a:avLst/>
              <a:gdLst/>
              <a:ahLst/>
              <a:cxnLst/>
              <a:rect r="r" b="b" t="t" l="l"/>
              <a:pathLst>
                <a:path h="67208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72084"/>
                  </a:lnTo>
                  <a:lnTo>
                    <a:pt x="0" y="672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63" r="0" b="-2776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2682240" cy="710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 &amp; MAPS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307824" y="7022592"/>
            <a:ext cx="4901184" cy="804672"/>
            <a:chOff x="0" y="0"/>
            <a:chExt cx="6534912" cy="107289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5349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98" r="0" b="-68599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2307824" y="6994017"/>
            <a:ext cx="4901184" cy="833247"/>
            <a:chOff x="0" y="0"/>
            <a:chExt cx="6534912" cy="111099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534912" cy="1110996"/>
            </a:xfrm>
            <a:custGeom>
              <a:avLst/>
              <a:gdLst/>
              <a:ahLst/>
              <a:cxnLst/>
              <a:rect r="r" b="b" t="t" l="l"/>
              <a:pathLst>
                <a:path h="11109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1" r="0" b="-6461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6534912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AWS · Leaflet· Google Maps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2307824" y="7863840"/>
            <a:ext cx="4901184" cy="1243584"/>
            <a:chOff x="0" y="0"/>
            <a:chExt cx="6534912" cy="165811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65349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40" r="0" b="-26740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2307824" y="7835265"/>
            <a:ext cx="4901184" cy="1272159"/>
            <a:chOff x="0" y="0"/>
            <a:chExt cx="6534912" cy="169621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534912" cy="1696212"/>
            </a:xfrm>
            <a:custGeom>
              <a:avLst/>
              <a:gdLst/>
              <a:ahLst/>
              <a:cxnLst/>
              <a:rect r="r" b="b" t="t" l="l"/>
              <a:pathLst>
                <a:path h="1696212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696212"/>
                  </a:lnTo>
                  <a:lnTo>
                    <a:pt x="0" y="16962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9" r="0" b="-25069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6534912" cy="1734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Deployment, auth, and geospatial visualization.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2358116" y="3438144"/>
            <a:ext cx="4901184" cy="804672"/>
            <a:chOff x="0" y="0"/>
            <a:chExt cx="6534912" cy="107289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5349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98" r="0" b="-68599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2358116" y="3409569"/>
            <a:ext cx="4901184" cy="833247"/>
            <a:chOff x="0" y="0"/>
            <a:chExt cx="6534912" cy="111099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534912" cy="1110996"/>
            </a:xfrm>
            <a:custGeom>
              <a:avLst/>
              <a:gdLst/>
              <a:ahLst/>
              <a:cxnLst/>
              <a:rect r="r" b="b" t="t" l="l"/>
              <a:pathLst>
                <a:path h="11109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1" r="0" b="-6461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6534912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PostgreSQL· MySQL· SQLite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6693408" y="7019163"/>
            <a:ext cx="4901184" cy="804672"/>
            <a:chOff x="0" y="0"/>
            <a:chExt cx="6534912" cy="107289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5349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598" r="0" b="-68599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6693408" y="6990588"/>
            <a:ext cx="4901184" cy="833247"/>
            <a:chOff x="0" y="0"/>
            <a:chExt cx="6534912" cy="111099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6534912" cy="1110996"/>
            </a:xfrm>
            <a:custGeom>
              <a:avLst/>
              <a:gdLst/>
              <a:ahLst/>
              <a:cxnLst/>
              <a:rect r="r" b="b" t="t" l="l"/>
              <a:pathLst>
                <a:path h="1110996" w="6534912">
                  <a:moveTo>
                    <a:pt x="0" y="0"/>
                  </a:moveTo>
                  <a:lnTo>
                    <a:pt x="6534912" y="0"/>
                  </a:lnTo>
                  <a:lnTo>
                    <a:pt x="6534912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11" r="0" b="-64611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6534912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Priority Scheduling · CSP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0"/>
            <a:chOff x="0" y="0"/>
            <a:chExt cx="243840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402336" cy="1280160"/>
            <a:chOff x="0" y="0"/>
            <a:chExt cx="536448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6448" cy="1706880"/>
            </a:xfrm>
            <a:custGeom>
              <a:avLst/>
              <a:gdLst/>
              <a:ahLst/>
              <a:cxnLst/>
              <a:rect r="r" b="b" t="t" l="l"/>
              <a:pathLst>
                <a:path h="170688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8096" y="0"/>
            <a:ext cx="15544800" cy="1280160"/>
            <a:chOff x="0" y="0"/>
            <a:chExt cx="20726400" cy="1706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439" r="0" b="-18643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8096" y="-42862"/>
            <a:ext cx="15544800" cy="1323023"/>
            <a:chOff x="0" y="0"/>
            <a:chExt cx="20726400" cy="17640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1764030"/>
            </a:xfrm>
            <a:custGeom>
              <a:avLst/>
              <a:gdLst/>
              <a:ahLst/>
              <a:cxnLst/>
              <a:rect r="r" b="b" t="t" l="l"/>
              <a:pathLst>
                <a:path h="176403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64030"/>
                  </a:lnTo>
                  <a:lnTo>
                    <a:pt x="0" y="1764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938" r="0" b="-1789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726400" cy="182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spc="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FEASIBILITY, IMPACT &amp; BENEFITS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0" y="0"/>
            <a:ext cx="3291840" cy="1280160"/>
            <a:chOff x="0" y="0"/>
            <a:chExt cx="438912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9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" r="0" b="-6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0400" y="-21431"/>
            <a:ext cx="3291840" cy="1301591"/>
            <a:chOff x="0" y="0"/>
            <a:chExt cx="4389120" cy="17354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1735455"/>
            </a:xfrm>
            <a:custGeom>
              <a:avLst/>
              <a:gdLst/>
              <a:ahLst/>
              <a:cxnLst/>
              <a:rect r="r" b="b" t="t" l="l"/>
              <a:pathLst>
                <a:path h="1735455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35455"/>
                  </a:lnTo>
                  <a:lnTo>
                    <a:pt x="0" y="17354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" t="0" r="-731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38912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PROJECT — II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07840" y="9509760"/>
            <a:ext cx="914400" cy="548640"/>
            <a:chOff x="0" y="0"/>
            <a:chExt cx="12192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5" t="0" r="-2703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007840" y="9481185"/>
            <a:ext cx="914400" cy="577215"/>
            <a:chOff x="0" y="0"/>
            <a:chExt cx="1219200" cy="7696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t="0" r="-3099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19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33727" y="1639567"/>
            <a:ext cx="5407724" cy="3816667"/>
          </a:xfrm>
          <a:custGeom>
            <a:avLst/>
            <a:gdLst/>
            <a:ahLst/>
            <a:cxnLst/>
            <a:rect r="r" b="b" t="t" l="l"/>
            <a:pathLst>
              <a:path h="3816667" w="5407724">
                <a:moveTo>
                  <a:pt x="0" y="0"/>
                </a:moveTo>
                <a:lnTo>
                  <a:pt x="5407723" y="0"/>
                </a:lnTo>
                <a:lnTo>
                  <a:pt x="5407723" y="3816667"/>
                </a:lnTo>
                <a:lnTo>
                  <a:pt x="0" y="38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40080" y="1645920"/>
            <a:ext cx="5394960" cy="109728"/>
            <a:chOff x="0" y="0"/>
            <a:chExt cx="7193280" cy="1463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6112" y="1865376"/>
            <a:ext cx="4882896" cy="548640"/>
            <a:chOff x="0" y="0"/>
            <a:chExt cx="6510528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10528" cy="731520"/>
            </a:xfrm>
            <a:custGeom>
              <a:avLst/>
              <a:gdLst/>
              <a:ahLst/>
              <a:cxnLst/>
              <a:rect r="r" b="b" t="t" l="l"/>
              <a:pathLst>
                <a:path h="7315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96" r="0" b="-12329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96112" y="1836801"/>
            <a:ext cx="4882896" cy="577215"/>
            <a:chOff x="0" y="0"/>
            <a:chExt cx="6510528" cy="7696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10528" cy="769620"/>
            </a:xfrm>
            <a:custGeom>
              <a:avLst/>
              <a:gdLst/>
              <a:ahLst/>
              <a:cxnLst/>
              <a:rect r="r" b="b" t="t" l="l"/>
              <a:pathLst>
                <a:path h="7696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31" r="0" b="-11483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51052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96112" y="2410968"/>
            <a:ext cx="4937760" cy="285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AI decision-making engine.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Seamless GPS &amp; IoT sensor integration.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24/7 automated monitoring support.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Robust fallback &amp; manual override.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339583" y="1639567"/>
            <a:ext cx="5407724" cy="3816667"/>
          </a:xfrm>
          <a:custGeom>
            <a:avLst/>
            <a:gdLst/>
            <a:ahLst/>
            <a:cxnLst/>
            <a:rect r="r" b="b" t="t" l="l"/>
            <a:pathLst>
              <a:path h="3816667" w="5407724">
                <a:moveTo>
                  <a:pt x="0" y="0"/>
                </a:moveTo>
                <a:lnTo>
                  <a:pt x="5407723" y="0"/>
                </a:lnTo>
                <a:lnTo>
                  <a:pt x="5407723" y="3816667"/>
                </a:lnTo>
                <a:lnTo>
                  <a:pt x="0" y="38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6345936" y="1645920"/>
            <a:ext cx="5394960" cy="109728"/>
            <a:chOff x="0" y="0"/>
            <a:chExt cx="7193280" cy="1463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601968" y="1865376"/>
            <a:ext cx="4882896" cy="548640"/>
            <a:chOff x="0" y="0"/>
            <a:chExt cx="6510528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10528" cy="731520"/>
            </a:xfrm>
            <a:custGeom>
              <a:avLst/>
              <a:gdLst/>
              <a:ahLst/>
              <a:cxnLst/>
              <a:rect r="r" b="b" t="t" l="l"/>
              <a:pathLst>
                <a:path h="7315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96" r="0" b="-12329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601968" y="1836801"/>
            <a:ext cx="4882896" cy="577215"/>
            <a:chOff x="0" y="0"/>
            <a:chExt cx="6510528" cy="7696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10528" cy="769620"/>
            </a:xfrm>
            <a:custGeom>
              <a:avLst/>
              <a:gdLst/>
              <a:ahLst/>
              <a:cxnLst/>
              <a:rect r="r" b="b" t="t" l="l"/>
              <a:pathLst>
                <a:path h="7696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31" r="0" b="-11483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51052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601968" y="2410968"/>
            <a:ext cx="4937760" cy="285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Empowers staff with smarter tools.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Fair scheduling for all train types.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Lower operational costs for railways.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Sustainable infrastructure growth.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2045439" y="1639567"/>
            <a:ext cx="5407724" cy="3816667"/>
          </a:xfrm>
          <a:custGeom>
            <a:avLst/>
            <a:gdLst/>
            <a:ahLst/>
            <a:cxnLst/>
            <a:rect r="r" b="b" t="t" l="l"/>
            <a:pathLst>
              <a:path h="3816667" w="5407724">
                <a:moveTo>
                  <a:pt x="0" y="0"/>
                </a:moveTo>
                <a:lnTo>
                  <a:pt x="5407723" y="0"/>
                </a:lnTo>
                <a:lnTo>
                  <a:pt x="5407723" y="3816667"/>
                </a:lnTo>
                <a:lnTo>
                  <a:pt x="0" y="38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2051792" y="1645920"/>
            <a:ext cx="5394960" cy="109728"/>
            <a:chOff x="0" y="0"/>
            <a:chExt cx="7193280" cy="1463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07824" y="1865376"/>
            <a:ext cx="4882896" cy="548640"/>
            <a:chOff x="0" y="0"/>
            <a:chExt cx="6510528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10528" cy="731520"/>
            </a:xfrm>
            <a:custGeom>
              <a:avLst/>
              <a:gdLst/>
              <a:ahLst/>
              <a:cxnLst/>
              <a:rect r="r" b="b" t="t" l="l"/>
              <a:pathLst>
                <a:path h="7315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96" r="0" b="-12329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307824" y="1836801"/>
            <a:ext cx="4882896" cy="577215"/>
            <a:chOff x="0" y="0"/>
            <a:chExt cx="6510528" cy="7696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10528" cy="769620"/>
            </a:xfrm>
            <a:custGeom>
              <a:avLst/>
              <a:gdLst/>
              <a:ahLst/>
              <a:cxnLst/>
              <a:rect r="r" b="b" t="t" l="l"/>
              <a:pathLst>
                <a:path h="7696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31" r="0" b="-11483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51052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0EA5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PASSENGER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307824" y="2410968"/>
            <a:ext cx="4937760" cy="285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Punctual travel &amp; reliable schedules.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updates &amp; transparency.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Minimal disruption during delays.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passenger announcements.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633727" y="5809231"/>
            <a:ext cx="5407724" cy="3816667"/>
          </a:xfrm>
          <a:custGeom>
            <a:avLst/>
            <a:gdLst/>
            <a:ahLst/>
            <a:cxnLst/>
            <a:rect r="r" b="b" t="t" l="l"/>
            <a:pathLst>
              <a:path h="3816667" w="5407724">
                <a:moveTo>
                  <a:pt x="0" y="0"/>
                </a:moveTo>
                <a:lnTo>
                  <a:pt x="5407723" y="0"/>
                </a:lnTo>
                <a:lnTo>
                  <a:pt x="5407723" y="3816667"/>
                </a:lnTo>
                <a:lnTo>
                  <a:pt x="0" y="38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640080" y="5815584"/>
            <a:ext cx="5394960" cy="109728"/>
            <a:chOff x="0" y="0"/>
            <a:chExt cx="7193280" cy="1463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96112" y="6035040"/>
            <a:ext cx="4882896" cy="548640"/>
            <a:chOff x="0" y="0"/>
            <a:chExt cx="6510528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10528" cy="731520"/>
            </a:xfrm>
            <a:custGeom>
              <a:avLst/>
              <a:gdLst/>
              <a:ahLst/>
              <a:cxnLst/>
              <a:rect r="r" b="b" t="t" l="l"/>
              <a:pathLst>
                <a:path h="7315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96" r="0" b="-123295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96112" y="6006465"/>
            <a:ext cx="4882896" cy="577215"/>
            <a:chOff x="0" y="0"/>
            <a:chExt cx="6510528" cy="7696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10528" cy="769620"/>
            </a:xfrm>
            <a:custGeom>
              <a:avLst/>
              <a:gdLst/>
              <a:ahLst/>
              <a:cxnLst/>
              <a:rect r="r" b="b" t="t" l="l"/>
              <a:pathLst>
                <a:path h="7696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31" r="0" b="-11483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51052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896112" y="6580632"/>
            <a:ext cx="4937760" cy="285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delay penalties &amp; fuel costs.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Optimized resource &amp; track utilization.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Boosted logistics &amp; freight efficiency.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Lower carbon footprint (less idling).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6339583" y="5809231"/>
            <a:ext cx="5407724" cy="3816667"/>
          </a:xfrm>
          <a:custGeom>
            <a:avLst/>
            <a:gdLst/>
            <a:ahLst/>
            <a:cxnLst/>
            <a:rect r="r" b="b" t="t" l="l"/>
            <a:pathLst>
              <a:path h="3816667" w="5407724">
                <a:moveTo>
                  <a:pt x="0" y="0"/>
                </a:moveTo>
                <a:lnTo>
                  <a:pt x="5407723" y="0"/>
                </a:lnTo>
                <a:lnTo>
                  <a:pt x="5407723" y="3816667"/>
                </a:lnTo>
                <a:lnTo>
                  <a:pt x="0" y="38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6345936" y="5815584"/>
            <a:ext cx="5394960" cy="109728"/>
            <a:chOff x="0" y="0"/>
            <a:chExt cx="7193280" cy="1463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601968" y="6035040"/>
            <a:ext cx="4882896" cy="548640"/>
            <a:chOff x="0" y="0"/>
            <a:chExt cx="6510528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10528" cy="731520"/>
            </a:xfrm>
            <a:custGeom>
              <a:avLst/>
              <a:gdLst/>
              <a:ahLst/>
              <a:cxnLst/>
              <a:rect r="r" b="b" t="t" l="l"/>
              <a:pathLst>
                <a:path h="7315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96" r="0" b="-123295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601968" y="6006465"/>
            <a:ext cx="4882896" cy="577215"/>
            <a:chOff x="0" y="0"/>
            <a:chExt cx="6510528" cy="7696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10528" cy="769620"/>
            </a:xfrm>
            <a:custGeom>
              <a:avLst/>
              <a:gdLst/>
              <a:ahLst/>
              <a:cxnLst/>
              <a:rect r="r" b="b" t="t" l="l"/>
              <a:pathLst>
                <a:path h="7696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31" r="0" b="-11483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51052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INFRASTRUCTURE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6601968" y="6580632"/>
            <a:ext cx="4937760" cy="285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platform &amp; track management.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congestion at major hubs.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Efficient multi-station coordination.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Scalable across Tier 2 &amp; 3 cities.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12045439" y="5809231"/>
            <a:ext cx="5407724" cy="3816667"/>
          </a:xfrm>
          <a:custGeom>
            <a:avLst/>
            <a:gdLst/>
            <a:ahLst/>
            <a:cxnLst/>
            <a:rect r="r" b="b" t="t" l="l"/>
            <a:pathLst>
              <a:path h="3816667" w="5407724">
                <a:moveTo>
                  <a:pt x="0" y="0"/>
                </a:moveTo>
                <a:lnTo>
                  <a:pt x="5407723" y="0"/>
                </a:lnTo>
                <a:lnTo>
                  <a:pt x="5407723" y="3816667"/>
                </a:lnTo>
                <a:lnTo>
                  <a:pt x="0" y="38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2051792" y="5815584"/>
            <a:ext cx="5394960" cy="109728"/>
            <a:chOff x="0" y="0"/>
            <a:chExt cx="7193280" cy="14630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307824" y="6035040"/>
            <a:ext cx="4882896" cy="548640"/>
            <a:chOff x="0" y="0"/>
            <a:chExt cx="6510528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510528" cy="731520"/>
            </a:xfrm>
            <a:custGeom>
              <a:avLst/>
              <a:gdLst/>
              <a:ahLst/>
              <a:cxnLst/>
              <a:rect r="r" b="b" t="t" l="l"/>
              <a:pathLst>
                <a:path h="7315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96" r="0" b="-123295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307824" y="6006465"/>
            <a:ext cx="4882896" cy="577215"/>
            <a:chOff x="0" y="0"/>
            <a:chExt cx="6510528" cy="7696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10528" cy="769620"/>
            </a:xfrm>
            <a:custGeom>
              <a:avLst/>
              <a:gdLst/>
              <a:ahLst/>
              <a:cxnLst/>
              <a:rect r="r" b="b" t="t" l="l"/>
              <a:pathLst>
                <a:path h="769620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31" r="0" b="-11483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510528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SAFETY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2307824" y="6580632"/>
            <a:ext cx="4937760" cy="285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Minimized human error in routing.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Enhanced monitoring &amp; alert systems.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Proactive conflict detection.</a:t>
            </a:r>
          </a:p>
          <a:p>
            <a:pPr algn="l" marL="434340" indent="-1447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emergency response.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87646"/>
            <a:ext cx="18288000" cy="1209150"/>
            <a:chOff x="0" y="0"/>
            <a:chExt cx="24384000" cy="161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612200"/>
            </a:xfrm>
            <a:custGeom>
              <a:avLst/>
              <a:gdLst/>
              <a:ahLst/>
              <a:cxnLst/>
              <a:rect r="r" b="b" t="t" l="l"/>
              <a:pathLst>
                <a:path h="1612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12200"/>
                  </a:lnTo>
                  <a:lnTo>
                    <a:pt x="0" y="16122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87646"/>
            <a:ext cx="402336" cy="1209150"/>
            <a:chOff x="0" y="0"/>
            <a:chExt cx="536448" cy="1612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6448" cy="1612200"/>
            </a:xfrm>
            <a:custGeom>
              <a:avLst/>
              <a:gdLst/>
              <a:ahLst/>
              <a:cxnLst/>
              <a:rect r="r" b="b" t="t" l="l"/>
              <a:pathLst>
                <a:path h="16122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612200"/>
                  </a:lnTo>
                  <a:lnTo>
                    <a:pt x="0" y="16122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8096" y="187646"/>
            <a:ext cx="15544800" cy="1209150"/>
            <a:chOff x="0" y="0"/>
            <a:chExt cx="20726400" cy="1612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1612200"/>
            </a:xfrm>
            <a:custGeom>
              <a:avLst/>
              <a:gdLst/>
              <a:ahLst/>
              <a:cxnLst/>
              <a:rect r="r" b="b" t="t" l="l"/>
              <a:pathLst>
                <a:path h="16122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612200"/>
                  </a:lnTo>
                  <a:lnTo>
                    <a:pt x="0" y="1612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325" r="0" b="-20032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8096" y="147161"/>
            <a:ext cx="15544800" cy="1249635"/>
            <a:chOff x="0" y="0"/>
            <a:chExt cx="20726400" cy="16661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1666180"/>
            </a:xfrm>
            <a:custGeom>
              <a:avLst/>
              <a:gdLst/>
              <a:ahLst/>
              <a:cxnLst/>
              <a:rect r="r" b="b" t="t" l="l"/>
              <a:pathLst>
                <a:path h="16661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666180"/>
                  </a:lnTo>
                  <a:lnTo>
                    <a:pt x="0" y="16661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447" r="0" b="-1953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726400" cy="1723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spc="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RISING PASSENGER DEMAND  (2018 – 2025)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0" y="187646"/>
            <a:ext cx="3291840" cy="1209150"/>
            <a:chOff x="0" y="0"/>
            <a:chExt cx="4389120" cy="1612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9120" cy="1612200"/>
            </a:xfrm>
            <a:custGeom>
              <a:avLst/>
              <a:gdLst/>
              <a:ahLst/>
              <a:cxnLst/>
              <a:rect r="r" b="b" t="t" l="l"/>
              <a:pathLst>
                <a:path h="1612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12200"/>
                  </a:lnTo>
                  <a:lnTo>
                    <a:pt x="0" y="1612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9" r="0" b="-301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0400" y="167404"/>
            <a:ext cx="3291840" cy="1229393"/>
            <a:chOff x="0" y="0"/>
            <a:chExt cx="4389120" cy="16391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1639190"/>
            </a:xfrm>
            <a:custGeom>
              <a:avLst/>
              <a:gdLst/>
              <a:ahLst/>
              <a:cxnLst/>
              <a:rect r="r" b="b" t="t" l="l"/>
              <a:pathLst>
                <a:path h="163919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39190"/>
                  </a:lnTo>
                  <a:lnTo>
                    <a:pt x="0" y="16391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" t="0" r="-731" b="-58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389120" cy="1667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 PROJECT — II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07840" y="9509760"/>
            <a:ext cx="914400" cy="548640"/>
            <a:chOff x="0" y="0"/>
            <a:chExt cx="12192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5" t="0" r="-2703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007840" y="9481185"/>
            <a:ext cx="914400" cy="577215"/>
            <a:chOff x="0" y="0"/>
            <a:chExt cx="1219200" cy="7696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t="0" r="-3099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19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438912" y="437033"/>
            <a:ext cx="12947904" cy="9811390"/>
            <a:chOff x="0" y="0"/>
            <a:chExt cx="17263872" cy="130818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263872" cy="13081854"/>
            </a:xfrm>
            <a:custGeom>
              <a:avLst/>
              <a:gdLst/>
              <a:ahLst/>
              <a:cxnLst/>
              <a:rect r="r" b="b" t="t" l="l"/>
              <a:pathLst>
                <a:path h="13081854" w="17263872">
                  <a:moveTo>
                    <a:pt x="0" y="0"/>
                  </a:moveTo>
                  <a:lnTo>
                    <a:pt x="17263872" y="0"/>
                  </a:lnTo>
                  <a:lnTo>
                    <a:pt x="17263872" y="13081854"/>
                  </a:lnTo>
                  <a:lnTo>
                    <a:pt x="0" y="13081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71" r="0" b="-2971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1972287" y="1602991"/>
            <a:ext cx="5682044" cy="2499932"/>
          </a:xfrm>
          <a:custGeom>
            <a:avLst/>
            <a:gdLst/>
            <a:ahLst/>
            <a:cxnLst/>
            <a:rect r="r" b="b" t="t" l="l"/>
            <a:pathLst>
              <a:path h="2499932" w="5682044">
                <a:moveTo>
                  <a:pt x="0" y="0"/>
                </a:moveTo>
                <a:lnTo>
                  <a:pt x="5682043" y="0"/>
                </a:lnTo>
                <a:lnTo>
                  <a:pt x="5682043" y="2499931"/>
                </a:lnTo>
                <a:lnTo>
                  <a:pt x="0" y="2499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1978640" y="1609344"/>
            <a:ext cx="128016" cy="2487168"/>
            <a:chOff x="0" y="0"/>
            <a:chExt cx="170688" cy="33162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0688" cy="3316224"/>
            </a:xfrm>
            <a:custGeom>
              <a:avLst/>
              <a:gdLst/>
              <a:ahLst/>
              <a:cxnLst/>
              <a:rect r="r" b="b" t="t" l="l"/>
              <a:pathLst>
                <a:path h="331622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316224"/>
                  </a:lnTo>
                  <a:lnTo>
                    <a:pt x="0" y="3316224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07824" y="1792224"/>
            <a:ext cx="5120640" cy="512064"/>
            <a:chOff x="0" y="0"/>
            <a:chExt cx="682752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715" r="0" b="-14471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07824" y="1749362"/>
            <a:ext cx="5120640" cy="554926"/>
            <a:chOff x="0" y="0"/>
            <a:chExt cx="6827520" cy="73990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7520" cy="739902"/>
            </a:xfrm>
            <a:custGeom>
              <a:avLst/>
              <a:gdLst/>
              <a:ahLst/>
              <a:cxnLst/>
              <a:rect r="r" b="b" t="t" l="l"/>
              <a:pathLst>
                <a:path h="73990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9902"/>
                  </a:lnTo>
                  <a:lnTo>
                    <a:pt x="0" y="739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00" r="0" b="-1298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827520" cy="797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07824" y="2267712"/>
            <a:ext cx="5120640" cy="438912"/>
            <a:chOff x="0" y="0"/>
            <a:chExt cx="6827520" cy="5852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27520" cy="585216"/>
            </a:xfrm>
            <a:custGeom>
              <a:avLst/>
              <a:gdLst/>
              <a:ahLst/>
              <a:cxnLst/>
              <a:rect r="r" b="b" t="t" l="l"/>
              <a:pathLst>
                <a:path h="5852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167" r="0" b="-17716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307824" y="2239137"/>
            <a:ext cx="5120640" cy="467487"/>
            <a:chOff x="0" y="0"/>
            <a:chExt cx="6827520" cy="6233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27520" cy="623316"/>
            </a:xfrm>
            <a:custGeom>
              <a:avLst/>
              <a:gdLst/>
              <a:ahLst/>
              <a:cxnLst/>
              <a:rect r="r" b="b" t="t" l="l"/>
              <a:pathLst>
                <a:path h="6233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23316"/>
                  </a:lnTo>
                  <a:lnTo>
                    <a:pt x="0" y="6233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430" r="0" b="-16343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827520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Stress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307824" y="2706624"/>
            <a:ext cx="5120640" cy="1243584"/>
            <a:chOff x="0" y="0"/>
            <a:chExt cx="6827520" cy="16581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275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176" r="0" b="-3017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307824" y="2678049"/>
            <a:ext cx="5120640" cy="1272159"/>
            <a:chOff x="0" y="0"/>
            <a:chExt cx="6827520" cy="16962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1696212"/>
            </a:xfrm>
            <a:custGeom>
              <a:avLst/>
              <a:gdLst/>
              <a:ahLst/>
              <a:cxnLst/>
              <a:rect r="r" b="b" t="t" l="l"/>
              <a:pathLst>
                <a:path h="16962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696212"/>
                  </a:lnTo>
                  <a:lnTo>
                    <a:pt x="0" y="16962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30" r="0" b="-2843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27520" cy="1734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Sharp decline to 1.2B passengers due to lockdowns. Revealed rigidity of static platform allocation.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1972287" y="4382767"/>
            <a:ext cx="5682044" cy="2499931"/>
          </a:xfrm>
          <a:custGeom>
            <a:avLst/>
            <a:gdLst/>
            <a:ahLst/>
            <a:cxnLst/>
            <a:rect r="r" b="b" t="t" l="l"/>
            <a:pathLst>
              <a:path h="2499931" w="5682044">
                <a:moveTo>
                  <a:pt x="0" y="0"/>
                </a:moveTo>
                <a:lnTo>
                  <a:pt x="5682043" y="0"/>
                </a:lnTo>
                <a:lnTo>
                  <a:pt x="5682043" y="2499931"/>
                </a:lnTo>
                <a:lnTo>
                  <a:pt x="0" y="2499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1978640" y="4389120"/>
            <a:ext cx="128016" cy="2487168"/>
            <a:chOff x="0" y="0"/>
            <a:chExt cx="170688" cy="33162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688" cy="3316224"/>
            </a:xfrm>
            <a:custGeom>
              <a:avLst/>
              <a:gdLst/>
              <a:ahLst/>
              <a:cxnLst/>
              <a:rect r="r" b="b" t="t" l="l"/>
              <a:pathLst>
                <a:path h="331622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316224"/>
                  </a:lnTo>
                  <a:lnTo>
                    <a:pt x="0" y="3316224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307824" y="4572000"/>
            <a:ext cx="5120640" cy="512064"/>
            <a:chOff x="0" y="0"/>
            <a:chExt cx="682752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715" r="0" b="-144713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307824" y="4529138"/>
            <a:ext cx="5120640" cy="554926"/>
            <a:chOff x="0" y="0"/>
            <a:chExt cx="6827520" cy="73990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27520" cy="739902"/>
            </a:xfrm>
            <a:custGeom>
              <a:avLst/>
              <a:gdLst/>
              <a:ahLst/>
              <a:cxnLst/>
              <a:rect r="r" b="b" t="t" l="l"/>
              <a:pathLst>
                <a:path h="73990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9902"/>
                  </a:lnTo>
                  <a:lnTo>
                    <a:pt x="0" y="739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00" r="0" b="-1298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6827520" cy="797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307824" y="5047488"/>
            <a:ext cx="5120640" cy="438912"/>
            <a:chOff x="0" y="0"/>
            <a:chExt cx="682752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27520" cy="585216"/>
            </a:xfrm>
            <a:custGeom>
              <a:avLst/>
              <a:gdLst/>
              <a:ahLst/>
              <a:cxnLst/>
              <a:rect r="r" b="b" t="t" l="l"/>
              <a:pathLst>
                <a:path h="5852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167" r="0" b="-177165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307824" y="5018913"/>
            <a:ext cx="5120640" cy="467487"/>
            <a:chOff x="0" y="0"/>
            <a:chExt cx="6827520" cy="6233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27520" cy="623316"/>
            </a:xfrm>
            <a:custGeom>
              <a:avLst/>
              <a:gdLst/>
              <a:ahLst/>
              <a:cxnLst/>
              <a:rect r="r" b="b" t="t" l="l"/>
              <a:pathLst>
                <a:path h="6233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23316"/>
                  </a:lnTo>
                  <a:lnTo>
                    <a:pt x="0" y="6233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430" r="0" b="-16343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827520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Rapid Rebound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307824" y="5486400"/>
            <a:ext cx="5120640" cy="1243584"/>
            <a:chOff x="0" y="0"/>
            <a:chExt cx="6827520" cy="16581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275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176" r="0" b="-3017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307824" y="5457825"/>
            <a:ext cx="5120640" cy="1272159"/>
            <a:chOff x="0" y="0"/>
            <a:chExt cx="6827520" cy="16962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27520" cy="1696212"/>
            </a:xfrm>
            <a:custGeom>
              <a:avLst/>
              <a:gdLst/>
              <a:ahLst/>
              <a:cxnLst/>
              <a:rect r="r" b="b" t="t" l="l"/>
              <a:pathLst>
                <a:path h="16962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696212"/>
                  </a:lnTo>
                  <a:lnTo>
                    <a:pt x="0" y="16962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30" r="0" b="-2843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827520" cy="1734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Traffic surged to 6.0B. Manual allocation struggled with load balancing, exposing scalability limits.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1972287" y="7162543"/>
            <a:ext cx="5682044" cy="2499932"/>
          </a:xfrm>
          <a:custGeom>
            <a:avLst/>
            <a:gdLst/>
            <a:ahLst/>
            <a:cxnLst/>
            <a:rect r="r" b="b" t="t" l="l"/>
            <a:pathLst>
              <a:path h="2499932" w="5682044">
                <a:moveTo>
                  <a:pt x="0" y="0"/>
                </a:moveTo>
                <a:lnTo>
                  <a:pt x="5682043" y="0"/>
                </a:lnTo>
                <a:lnTo>
                  <a:pt x="5682043" y="2499931"/>
                </a:lnTo>
                <a:lnTo>
                  <a:pt x="0" y="2499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1978640" y="7168896"/>
            <a:ext cx="128016" cy="2487168"/>
            <a:chOff x="0" y="0"/>
            <a:chExt cx="170688" cy="33162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70688" cy="3316224"/>
            </a:xfrm>
            <a:custGeom>
              <a:avLst/>
              <a:gdLst/>
              <a:ahLst/>
              <a:cxnLst/>
              <a:rect r="r" b="b" t="t" l="l"/>
              <a:pathLst>
                <a:path h="331622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316224"/>
                  </a:lnTo>
                  <a:lnTo>
                    <a:pt x="0" y="3316224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307824" y="7351776"/>
            <a:ext cx="5120640" cy="512064"/>
            <a:chOff x="0" y="0"/>
            <a:chExt cx="682752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715" r="0" b="-144713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307824" y="7308914"/>
            <a:ext cx="5120640" cy="554926"/>
            <a:chOff x="0" y="0"/>
            <a:chExt cx="6827520" cy="73990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27520" cy="739902"/>
            </a:xfrm>
            <a:custGeom>
              <a:avLst/>
              <a:gdLst/>
              <a:ahLst/>
              <a:cxnLst/>
              <a:rect r="r" b="b" t="t" l="l"/>
              <a:pathLst>
                <a:path h="73990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9902"/>
                  </a:lnTo>
                  <a:lnTo>
                    <a:pt x="0" y="739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00" r="0" b="-12980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6827520" cy="797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2025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307824" y="7827264"/>
            <a:ext cx="5120640" cy="438912"/>
            <a:chOff x="0" y="0"/>
            <a:chExt cx="6827520" cy="5852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27520" cy="585216"/>
            </a:xfrm>
            <a:custGeom>
              <a:avLst/>
              <a:gdLst/>
              <a:ahLst/>
              <a:cxnLst/>
              <a:rect r="r" b="b" t="t" l="l"/>
              <a:pathLst>
                <a:path h="5852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167" r="0" b="-177165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307824" y="7798689"/>
            <a:ext cx="5120640" cy="467487"/>
            <a:chOff x="0" y="0"/>
            <a:chExt cx="6827520" cy="6233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827520" cy="623316"/>
            </a:xfrm>
            <a:custGeom>
              <a:avLst/>
              <a:gdLst/>
              <a:ahLst/>
              <a:cxnLst/>
              <a:rect r="r" b="b" t="t" l="l"/>
              <a:pathLst>
                <a:path h="6233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23316"/>
                  </a:lnTo>
                  <a:lnTo>
                    <a:pt x="0" y="6233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430" r="0" b="-16343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6827520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 Load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307824" y="8266176"/>
            <a:ext cx="5120640" cy="1243584"/>
            <a:chOff x="0" y="0"/>
            <a:chExt cx="6827520" cy="165811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8275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176" r="0" b="-30176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307824" y="8237601"/>
            <a:ext cx="5120640" cy="1272159"/>
            <a:chOff x="0" y="0"/>
            <a:chExt cx="6827520" cy="16962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0" cy="1696212"/>
            </a:xfrm>
            <a:custGeom>
              <a:avLst/>
              <a:gdLst/>
              <a:ahLst/>
              <a:cxnLst/>
              <a:rect r="r" b="b" t="t" l="l"/>
              <a:pathLst>
                <a:path h="169621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696212"/>
                  </a:lnTo>
                  <a:lnTo>
                    <a:pt x="0" y="16962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30" r="0" b="-2843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827520" cy="1734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All-time high of 8.5B passengers. AI-driven predictive scheduling is now essential.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40080" y="9601200"/>
            <a:ext cx="10789920" cy="457200"/>
            <a:chOff x="0" y="0"/>
            <a:chExt cx="14386560" cy="609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386561" cy="609600"/>
            </a:xfrm>
            <a:custGeom>
              <a:avLst/>
              <a:gdLst/>
              <a:ahLst/>
              <a:cxnLst/>
              <a:rect r="r" b="b" t="t" l="l"/>
              <a:pathLst>
                <a:path h="60960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527" r="0" b="-409527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40080" y="9769793"/>
            <a:ext cx="10789920" cy="478631"/>
            <a:chOff x="0" y="0"/>
            <a:chExt cx="14386560" cy="63817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4386561" cy="638175"/>
            </a:xfrm>
            <a:custGeom>
              <a:avLst/>
              <a:gdLst/>
              <a:ahLst/>
              <a:cxnLst/>
              <a:rect r="r" b="b" t="t" l="l"/>
              <a:pathLst>
                <a:path h="638175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638175"/>
                  </a:lnTo>
                  <a:lnTo>
                    <a:pt x="0" y="6381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256" r="0" b="-38925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1438656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Source: Indian Railways Passenger Statistics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33803" y="3056620"/>
            <a:ext cx="3096758" cy="5114792"/>
          </a:xfrm>
          <a:custGeom>
            <a:avLst/>
            <a:gdLst/>
            <a:ahLst/>
            <a:cxnLst/>
            <a:rect r="r" b="b" t="t" l="l"/>
            <a:pathLst>
              <a:path h="5114792" w="3096758">
                <a:moveTo>
                  <a:pt x="0" y="0"/>
                </a:moveTo>
                <a:lnTo>
                  <a:pt x="3096758" y="0"/>
                </a:lnTo>
                <a:lnTo>
                  <a:pt x="3096758" y="5114792"/>
                </a:lnTo>
                <a:lnTo>
                  <a:pt x="0" y="5114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41969" y="3317643"/>
            <a:ext cx="2908840" cy="61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9"/>
              </a:lnSpc>
            </a:pPr>
            <a:r>
              <a:rPr lang="en-US" sz="17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PLATFORM ALLOCATION ENGINE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763864" y="6602473"/>
            <a:ext cx="2714406" cy="2440429"/>
          </a:xfrm>
          <a:custGeom>
            <a:avLst/>
            <a:gdLst/>
            <a:ahLst/>
            <a:cxnLst/>
            <a:rect r="r" b="b" t="t" l="l"/>
            <a:pathLst>
              <a:path h="2440429" w="2714406">
                <a:moveTo>
                  <a:pt x="0" y="0"/>
                </a:moveTo>
                <a:lnTo>
                  <a:pt x="2714406" y="0"/>
                </a:lnTo>
                <a:lnTo>
                  <a:pt x="2714406" y="2440429"/>
                </a:lnTo>
                <a:lnTo>
                  <a:pt x="0" y="2440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3244" y="1745561"/>
            <a:ext cx="2557567" cy="3148479"/>
          </a:xfrm>
          <a:custGeom>
            <a:avLst/>
            <a:gdLst/>
            <a:ahLst/>
            <a:cxnLst/>
            <a:rect r="r" b="b" t="t" l="l"/>
            <a:pathLst>
              <a:path h="3148479" w="2557567">
                <a:moveTo>
                  <a:pt x="0" y="0"/>
                </a:moveTo>
                <a:lnTo>
                  <a:pt x="2557567" y="0"/>
                </a:lnTo>
                <a:lnTo>
                  <a:pt x="2557567" y="3148479"/>
                </a:lnTo>
                <a:lnTo>
                  <a:pt x="0" y="31484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746" y="1949339"/>
            <a:ext cx="2340654" cy="31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9"/>
              </a:lnSpc>
            </a:pPr>
            <a:r>
              <a:rPr lang="en-US" sz="17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COLLECTION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2536" y="2402767"/>
            <a:ext cx="2195065" cy="735730"/>
          </a:xfrm>
          <a:custGeom>
            <a:avLst/>
            <a:gdLst/>
            <a:ahLst/>
            <a:cxnLst/>
            <a:rect r="r" b="b" t="t" l="l"/>
            <a:pathLst>
              <a:path h="735730" w="2195065">
                <a:moveTo>
                  <a:pt x="0" y="0"/>
                </a:moveTo>
                <a:lnTo>
                  <a:pt x="2195064" y="0"/>
                </a:lnTo>
                <a:lnTo>
                  <a:pt x="2195064" y="735730"/>
                </a:lnTo>
                <a:lnTo>
                  <a:pt x="0" y="73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52706" y="2646378"/>
            <a:ext cx="1862347" cy="26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GPS DATA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13962" y="5633695"/>
            <a:ext cx="2714406" cy="3515497"/>
          </a:xfrm>
          <a:custGeom>
            <a:avLst/>
            <a:gdLst/>
            <a:ahLst/>
            <a:cxnLst/>
            <a:rect r="r" b="b" t="t" l="l"/>
            <a:pathLst>
              <a:path h="3515497" w="2714406">
                <a:moveTo>
                  <a:pt x="0" y="0"/>
                </a:moveTo>
                <a:lnTo>
                  <a:pt x="2714406" y="0"/>
                </a:lnTo>
                <a:lnTo>
                  <a:pt x="2714406" y="3515496"/>
                </a:lnTo>
                <a:lnTo>
                  <a:pt x="0" y="35154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9044" y="5807869"/>
            <a:ext cx="2732199" cy="61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9"/>
              </a:lnSpc>
            </a:pPr>
            <a:r>
              <a:rPr lang="en-US" sz="17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PROCESSING &amp; ANALYSYS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34050" y="3198057"/>
            <a:ext cx="2192026" cy="750237"/>
          </a:xfrm>
          <a:custGeom>
            <a:avLst/>
            <a:gdLst/>
            <a:ahLst/>
            <a:cxnLst/>
            <a:rect r="r" b="b" t="t" l="l"/>
            <a:pathLst>
              <a:path h="750237" w="2192026">
                <a:moveTo>
                  <a:pt x="0" y="0"/>
                </a:moveTo>
                <a:lnTo>
                  <a:pt x="2192026" y="0"/>
                </a:lnTo>
                <a:lnTo>
                  <a:pt x="2192026" y="750236"/>
                </a:lnTo>
                <a:lnTo>
                  <a:pt x="0" y="7502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5921" y="3436782"/>
            <a:ext cx="1893103" cy="26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IOT SENSORS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34161" y="8079591"/>
            <a:ext cx="2316613" cy="857040"/>
          </a:xfrm>
          <a:custGeom>
            <a:avLst/>
            <a:gdLst/>
            <a:ahLst/>
            <a:cxnLst/>
            <a:rect r="r" b="b" t="t" l="l"/>
            <a:pathLst>
              <a:path h="857040" w="2316613">
                <a:moveTo>
                  <a:pt x="0" y="0"/>
                </a:moveTo>
                <a:lnTo>
                  <a:pt x="2316614" y="0"/>
                </a:lnTo>
                <a:lnTo>
                  <a:pt x="2316614" y="857040"/>
                </a:lnTo>
                <a:lnTo>
                  <a:pt x="0" y="8570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5263" y="8394182"/>
            <a:ext cx="2392108" cy="26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RULE-BASED ENGINE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29218" y="6453969"/>
            <a:ext cx="2339197" cy="827399"/>
          </a:xfrm>
          <a:custGeom>
            <a:avLst/>
            <a:gdLst/>
            <a:ahLst/>
            <a:cxnLst/>
            <a:rect r="r" b="b" t="t" l="l"/>
            <a:pathLst>
              <a:path h="827399" w="2339197">
                <a:moveTo>
                  <a:pt x="0" y="0"/>
                </a:moveTo>
                <a:lnTo>
                  <a:pt x="2339197" y="0"/>
                </a:lnTo>
                <a:lnTo>
                  <a:pt x="2339197" y="827398"/>
                </a:lnTo>
                <a:lnTo>
                  <a:pt x="0" y="8273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38006" y="6598644"/>
            <a:ext cx="1893103" cy="53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AGGREGATE REAL TIME DATA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776875" y="2059991"/>
            <a:ext cx="2714406" cy="4124258"/>
          </a:xfrm>
          <a:custGeom>
            <a:avLst/>
            <a:gdLst/>
            <a:ahLst/>
            <a:cxnLst/>
            <a:rect r="r" b="b" t="t" l="l"/>
            <a:pathLst>
              <a:path h="4124258" w="2714406">
                <a:moveTo>
                  <a:pt x="0" y="0"/>
                </a:moveTo>
                <a:lnTo>
                  <a:pt x="2714406" y="0"/>
                </a:lnTo>
                <a:lnTo>
                  <a:pt x="2714406" y="4124258"/>
                </a:lnTo>
                <a:lnTo>
                  <a:pt x="0" y="41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001532" y="3282067"/>
            <a:ext cx="2294515" cy="784212"/>
          </a:xfrm>
          <a:custGeom>
            <a:avLst/>
            <a:gdLst/>
            <a:ahLst/>
            <a:cxnLst/>
            <a:rect r="r" b="b" t="t" l="l"/>
            <a:pathLst>
              <a:path h="784212" w="2294515">
                <a:moveTo>
                  <a:pt x="0" y="0"/>
                </a:moveTo>
                <a:lnTo>
                  <a:pt x="2294515" y="0"/>
                </a:lnTo>
                <a:lnTo>
                  <a:pt x="2294515" y="784213"/>
                </a:lnTo>
                <a:lnTo>
                  <a:pt x="0" y="78421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222217" y="3385585"/>
            <a:ext cx="1862347" cy="53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CROWD FLOW MONITORING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986368" y="6876050"/>
            <a:ext cx="2316613" cy="827037"/>
          </a:xfrm>
          <a:custGeom>
            <a:avLst/>
            <a:gdLst/>
            <a:ahLst/>
            <a:cxnLst/>
            <a:rect r="r" b="b" t="t" l="l"/>
            <a:pathLst>
              <a:path h="827037" w="2316613">
                <a:moveTo>
                  <a:pt x="0" y="0"/>
                </a:moveTo>
                <a:lnTo>
                  <a:pt x="2316614" y="0"/>
                </a:lnTo>
                <a:lnTo>
                  <a:pt x="2316614" y="827037"/>
                </a:lnTo>
                <a:lnTo>
                  <a:pt x="0" y="82703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189889" y="7102688"/>
            <a:ext cx="1862347" cy="26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LOGGING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962756" y="7943307"/>
            <a:ext cx="2316613" cy="827037"/>
          </a:xfrm>
          <a:custGeom>
            <a:avLst/>
            <a:gdLst/>
            <a:ahLst/>
            <a:cxnLst/>
            <a:rect r="r" b="b" t="t" l="l"/>
            <a:pathLst>
              <a:path h="827037" w="2316613">
                <a:moveTo>
                  <a:pt x="0" y="0"/>
                </a:moveTo>
                <a:lnTo>
                  <a:pt x="2316613" y="0"/>
                </a:lnTo>
                <a:lnTo>
                  <a:pt x="2316613" y="827037"/>
                </a:lnTo>
                <a:lnTo>
                  <a:pt x="0" y="82703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189889" y="8070913"/>
            <a:ext cx="1862347" cy="52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LEARNING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69131" y="7071836"/>
            <a:ext cx="959758" cy="28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43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53538" y="5853236"/>
            <a:ext cx="959758" cy="28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43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YES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143013" y="3897420"/>
            <a:ext cx="2583190" cy="1311212"/>
          </a:xfrm>
          <a:custGeom>
            <a:avLst/>
            <a:gdLst/>
            <a:ahLst/>
            <a:cxnLst/>
            <a:rect r="r" b="b" t="t" l="l"/>
            <a:pathLst>
              <a:path h="1311212" w="2583190">
                <a:moveTo>
                  <a:pt x="0" y="0"/>
                </a:moveTo>
                <a:lnTo>
                  <a:pt x="2583190" y="0"/>
                </a:lnTo>
                <a:lnTo>
                  <a:pt x="2583190" y="1311212"/>
                </a:lnTo>
                <a:lnTo>
                  <a:pt x="0" y="131121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482122" y="4360802"/>
            <a:ext cx="1862347" cy="52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ASSIGN PLATFORM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399008" y="6796383"/>
            <a:ext cx="31842" cy="737283"/>
            <a:chOff x="0" y="0"/>
            <a:chExt cx="42456" cy="9830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418" cy="982981"/>
            </a:xfrm>
            <a:custGeom>
              <a:avLst/>
              <a:gdLst/>
              <a:ahLst/>
              <a:cxnLst/>
              <a:rect r="r" b="b" t="t" l="l"/>
              <a:pathLst>
                <a:path h="982981" w="42418">
                  <a:moveTo>
                    <a:pt x="38100" y="18923"/>
                  </a:moveTo>
                  <a:lnTo>
                    <a:pt x="42418" y="963803"/>
                  </a:lnTo>
                  <a:cubicBezTo>
                    <a:pt x="42418" y="974344"/>
                    <a:pt x="34036" y="982853"/>
                    <a:pt x="23495" y="982980"/>
                  </a:cubicBezTo>
                  <a:cubicBezTo>
                    <a:pt x="12954" y="983107"/>
                    <a:pt x="4445" y="974598"/>
                    <a:pt x="4318" y="964057"/>
                  </a:cubicBezTo>
                  <a:lnTo>
                    <a:pt x="0" y="19177"/>
                  </a:lnTo>
                  <a:cubicBezTo>
                    <a:pt x="0" y="8636"/>
                    <a:pt x="8382" y="0"/>
                    <a:pt x="18923" y="0"/>
                  </a:cubicBezTo>
                  <a:cubicBezTo>
                    <a:pt x="29464" y="0"/>
                    <a:pt x="38100" y="8382"/>
                    <a:pt x="38100" y="1892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4110371" y="5229749"/>
            <a:ext cx="2574988" cy="1317631"/>
          </a:xfrm>
          <a:custGeom>
            <a:avLst/>
            <a:gdLst/>
            <a:ahLst/>
            <a:cxnLst/>
            <a:rect r="r" b="b" t="t" l="l"/>
            <a:pathLst>
              <a:path h="1317631" w="2574988">
                <a:moveTo>
                  <a:pt x="0" y="0"/>
                </a:moveTo>
                <a:lnTo>
                  <a:pt x="2574988" y="0"/>
                </a:lnTo>
                <a:lnTo>
                  <a:pt x="2574988" y="1317631"/>
                </a:lnTo>
                <a:lnTo>
                  <a:pt x="0" y="131763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512516" y="5720382"/>
            <a:ext cx="1862347" cy="53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REALLOCATION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4097703" y="6715716"/>
            <a:ext cx="2574998" cy="1163241"/>
          </a:xfrm>
          <a:custGeom>
            <a:avLst/>
            <a:gdLst/>
            <a:ahLst/>
            <a:cxnLst/>
            <a:rect r="r" b="b" t="t" l="l"/>
            <a:pathLst>
              <a:path h="1163241" w="2574998">
                <a:moveTo>
                  <a:pt x="0" y="0"/>
                </a:moveTo>
                <a:lnTo>
                  <a:pt x="2574998" y="0"/>
                </a:lnTo>
                <a:lnTo>
                  <a:pt x="2574998" y="1163240"/>
                </a:lnTo>
                <a:lnTo>
                  <a:pt x="0" y="116324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482789" y="7088267"/>
            <a:ext cx="1862347" cy="53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CONFLCIT RESOLUTION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7663882" y="1814227"/>
            <a:ext cx="3096758" cy="1573016"/>
          </a:xfrm>
          <a:custGeom>
            <a:avLst/>
            <a:gdLst/>
            <a:ahLst/>
            <a:cxnLst/>
            <a:rect r="r" b="b" t="t" l="l"/>
            <a:pathLst>
              <a:path h="1573016" w="3096758">
                <a:moveTo>
                  <a:pt x="0" y="0"/>
                </a:moveTo>
                <a:lnTo>
                  <a:pt x="3096758" y="0"/>
                </a:lnTo>
                <a:lnTo>
                  <a:pt x="3096758" y="1573015"/>
                </a:lnTo>
                <a:lnTo>
                  <a:pt x="0" y="157301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861725" y="2041284"/>
            <a:ext cx="2729646" cy="1140314"/>
          </a:xfrm>
          <a:custGeom>
            <a:avLst/>
            <a:gdLst/>
            <a:ahLst/>
            <a:cxnLst/>
            <a:rect r="r" b="b" t="t" l="l"/>
            <a:pathLst>
              <a:path h="1140314" w="2729646">
                <a:moveTo>
                  <a:pt x="0" y="0"/>
                </a:moveTo>
                <a:lnTo>
                  <a:pt x="2729646" y="0"/>
                </a:lnTo>
                <a:lnTo>
                  <a:pt x="2729646" y="1140314"/>
                </a:lnTo>
                <a:lnTo>
                  <a:pt x="0" y="114031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978083" y="2336759"/>
            <a:ext cx="2482034" cy="78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STATION CONTROLLER DASHBOARD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7668644" y="3455175"/>
            <a:ext cx="3096758" cy="3691642"/>
          </a:xfrm>
          <a:custGeom>
            <a:avLst/>
            <a:gdLst/>
            <a:ahLst/>
            <a:cxnLst/>
            <a:rect r="r" b="b" t="t" l="l"/>
            <a:pathLst>
              <a:path h="3691642" w="3096758">
                <a:moveTo>
                  <a:pt x="0" y="0"/>
                </a:moveTo>
                <a:lnTo>
                  <a:pt x="3096759" y="0"/>
                </a:lnTo>
                <a:lnTo>
                  <a:pt x="3096759" y="3691642"/>
                </a:lnTo>
                <a:lnTo>
                  <a:pt x="0" y="369164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935525" y="3959638"/>
            <a:ext cx="2574998" cy="979903"/>
          </a:xfrm>
          <a:custGeom>
            <a:avLst/>
            <a:gdLst/>
            <a:ahLst/>
            <a:cxnLst/>
            <a:rect r="r" b="b" t="t" l="l"/>
            <a:pathLst>
              <a:path h="979903" w="2574998">
                <a:moveTo>
                  <a:pt x="0" y="0"/>
                </a:moveTo>
                <a:lnTo>
                  <a:pt x="2574998" y="0"/>
                </a:lnTo>
                <a:lnTo>
                  <a:pt x="2574998" y="979903"/>
                </a:lnTo>
                <a:lnTo>
                  <a:pt x="0" y="97990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260728" y="4260418"/>
            <a:ext cx="1860032" cy="525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UPDATE TRAIN CREW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7921295" y="5054879"/>
            <a:ext cx="2574998" cy="886454"/>
          </a:xfrm>
          <a:custGeom>
            <a:avLst/>
            <a:gdLst/>
            <a:ahLst/>
            <a:cxnLst/>
            <a:rect r="r" b="b" t="t" l="l"/>
            <a:pathLst>
              <a:path h="886454" w="2574998">
                <a:moveTo>
                  <a:pt x="0" y="0"/>
                </a:moveTo>
                <a:lnTo>
                  <a:pt x="2574998" y="0"/>
                </a:lnTo>
                <a:lnTo>
                  <a:pt x="2574998" y="886454"/>
                </a:lnTo>
                <a:lnTo>
                  <a:pt x="0" y="886454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8261185" y="5218166"/>
            <a:ext cx="1860032" cy="52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UPDATE PASSENGERS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7918942" y="6074235"/>
            <a:ext cx="2574998" cy="817455"/>
          </a:xfrm>
          <a:custGeom>
            <a:avLst/>
            <a:gdLst/>
            <a:ahLst/>
            <a:cxnLst/>
            <a:rect r="r" b="b" t="t" l="l"/>
            <a:pathLst>
              <a:path h="817455" w="2574998">
                <a:moveTo>
                  <a:pt x="0" y="0"/>
                </a:moveTo>
                <a:lnTo>
                  <a:pt x="2574998" y="0"/>
                </a:lnTo>
                <a:lnTo>
                  <a:pt x="2574998" y="817455"/>
                </a:lnTo>
                <a:lnTo>
                  <a:pt x="0" y="817455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8291722" y="6168581"/>
            <a:ext cx="1860032" cy="525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UPDATE OTHER SYSTEMS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1467719" y="2188855"/>
            <a:ext cx="2647674" cy="1399937"/>
          </a:xfrm>
          <a:custGeom>
            <a:avLst/>
            <a:gdLst/>
            <a:ahLst/>
            <a:cxnLst/>
            <a:rect r="r" b="b" t="t" l="l"/>
            <a:pathLst>
              <a:path h="1399937" w="2647674">
                <a:moveTo>
                  <a:pt x="0" y="0"/>
                </a:moveTo>
                <a:lnTo>
                  <a:pt x="2647674" y="0"/>
                </a:lnTo>
                <a:lnTo>
                  <a:pt x="2647674" y="1399936"/>
                </a:lnTo>
                <a:lnTo>
                  <a:pt x="0" y="1399936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1812000" y="2764927"/>
            <a:ext cx="1899628" cy="52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LIVE TRAIN TRACKING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1480740" y="3735114"/>
            <a:ext cx="2681602" cy="1140314"/>
          </a:xfrm>
          <a:custGeom>
            <a:avLst/>
            <a:gdLst/>
            <a:ahLst/>
            <a:cxnLst/>
            <a:rect r="r" b="b" t="t" l="l"/>
            <a:pathLst>
              <a:path h="1140314" w="2681602">
                <a:moveTo>
                  <a:pt x="0" y="0"/>
                </a:moveTo>
                <a:lnTo>
                  <a:pt x="2681602" y="0"/>
                </a:lnTo>
                <a:lnTo>
                  <a:pt x="2681602" y="1140314"/>
                </a:lnTo>
                <a:lnTo>
                  <a:pt x="0" y="1140314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1522774" y="3995128"/>
            <a:ext cx="2612279" cy="78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PLATFORM ALLOCATIION SUGGESTION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1468462" y="5018046"/>
            <a:ext cx="2733694" cy="1140314"/>
          </a:xfrm>
          <a:custGeom>
            <a:avLst/>
            <a:gdLst/>
            <a:ahLst/>
            <a:cxnLst/>
            <a:rect r="r" b="b" t="t" l="l"/>
            <a:pathLst>
              <a:path h="1140314" w="2733694">
                <a:moveTo>
                  <a:pt x="0" y="0"/>
                </a:moveTo>
                <a:lnTo>
                  <a:pt x="2733694" y="0"/>
                </a:lnTo>
                <a:lnTo>
                  <a:pt x="2733694" y="1140314"/>
                </a:lnTo>
                <a:lnTo>
                  <a:pt x="0" y="1140314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1841575" y="5313407"/>
            <a:ext cx="1974666" cy="5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ALERT &amp; NOTIFICATIONS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1468748" y="6279575"/>
            <a:ext cx="2712634" cy="1140314"/>
          </a:xfrm>
          <a:custGeom>
            <a:avLst/>
            <a:gdLst/>
            <a:ahLst/>
            <a:cxnLst/>
            <a:rect r="r" b="b" t="t" l="l"/>
            <a:pathLst>
              <a:path h="1140314" w="2712634">
                <a:moveTo>
                  <a:pt x="0" y="0"/>
                </a:moveTo>
                <a:lnTo>
                  <a:pt x="2712634" y="0"/>
                </a:lnTo>
                <a:lnTo>
                  <a:pt x="2712634" y="1140314"/>
                </a:lnTo>
                <a:lnTo>
                  <a:pt x="0" y="1140314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1791236" y="6541132"/>
            <a:ext cx="1959454" cy="55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</a:pPr>
            <a:r>
              <a:rPr lang="en-US" sz="143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MANUAL OVERRIDE OPTION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140112" y="6126728"/>
            <a:ext cx="28575" cy="488871"/>
            <a:chOff x="0" y="0"/>
            <a:chExt cx="38100" cy="6518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8100" cy="651764"/>
            </a:xfrm>
            <a:custGeom>
              <a:avLst/>
              <a:gdLst/>
              <a:ahLst/>
              <a:cxnLst/>
              <a:rect r="r" b="b" t="t" l="l"/>
              <a:pathLst>
                <a:path h="651764" w="38100">
                  <a:moveTo>
                    <a:pt x="38100" y="19050"/>
                  </a:moveTo>
                  <a:lnTo>
                    <a:pt x="38100" y="632714"/>
                  </a:lnTo>
                  <a:cubicBezTo>
                    <a:pt x="38100" y="643255"/>
                    <a:pt x="29591" y="651764"/>
                    <a:pt x="19050" y="651764"/>
                  </a:cubicBezTo>
                  <a:cubicBezTo>
                    <a:pt x="8509" y="651764"/>
                    <a:pt x="0" y="643255"/>
                    <a:pt x="0" y="63271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2032616" y="4866627"/>
            <a:ext cx="25403" cy="814426"/>
            <a:chOff x="0" y="0"/>
            <a:chExt cx="33871" cy="108590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16891"/>
              <a:ext cx="33909" cy="1052068"/>
            </a:xfrm>
            <a:custGeom>
              <a:avLst/>
              <a:gdLst/>
              <a:ahLst/>
              <a:cxnLst/>
              <a:rect r="r" b="b" t="t" l="l"/>
              <a:pathLst>
                <a:path h="1052068" w="33909">
                  <a:moveTo>
                    <a:pt x="33909" y="0"/>
                  </a:moveTo>
                  <a:lnTo>
                    <a:pt x="33909" y="1052068"/>
                  </a:lnTo>
                  <a:lnTo>
                    <a:pt x="0" y="1052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6" id="56"/>
          <p:cNvSpPr/>
          <p:nvPr/>
        </p:nvSpPr>
        <p:spPr>
          <a:xfrm flipH="false" flipV="false" rot="0">
            <a:off x="14981158" y="4178246"/>
            <a:ext cx="2335263" cy="814035"/>
          </a:xfrm>
          <a:custGeom>
            <a:avLst/>
            <a:gdLst/>
            <a:ahLst/>
            <a:cxnLst/>
            <a:rect r="r" b="b" t="t" l="l"/>
            <a:pathLst>
              <a:path h="814035" w="2335263">
                <a:moveTo>
                  <a:pt x="0" y="0"/>
                </a:moveTo>
                <a:lnTo>
                  <a:pt x="2335263" y="0"/>
                </a:lnTo>
                <a:lnTo>
                  <a:pt x="2335263" y="814035"/>
                </a:lnTo>
                <a:lnTo>
                  <a:pt x="0" y="814035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5212701" y="4307872"/>
            <a:ext cx="1862347" cy="53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UPDATES</a:t>
            </a:r>
          </a:p>
        </p:txBody>
      </p:sp>
      <p:sp>
        <p:nvSpPr>
          <p:cNvPr name="AutoShape 58" id="58"/>
          <p:cNvSpPr/>
          <p:nvPr/>
        </p:nvSpPr>
        <p:spPr>
          <a:xfrm rot="-4232940">
            <a:off x="2665714" y="6524787"/>
            <a:ext cx="1844954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59" id="59"/>
          <p:cNvSpPr/>
          <p:nvPr/>
        </p:nvSpPr>
        <p:spPr>
          <a:xfrm flipH="false" flipV="false" rot="0">
            <a:off x="825084" y="6634925"/>
            <a:ext cx="2457945" cy="1484052"/>
          </a:xfrm>
          <a:custGeom>
            <a:avLst/>
            <a:gdLst/>
            <a:ahLst/>
            <a:cxnLst/>
            <a:rect r="r" b="b" t="t" l="l"/>
            <a:pathLst>
              <a:path h="1484052" w="2457945">
                <a:moveTo>
                  <a:pt x="0" y="0"/>
                </a:moveTo>
                <a:lnTo>
                  <a:pt x="2457945" y="0"/>
                </a:lnTo>
                <a:lnTo>
                  <a:pt x="2457945" y="1484052"/>
                </a:lnTo>
                <a:lnTo>
                  <a:pt x="0" y="1484052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009279" y="7424671"/>
            <a:ext cx="1893103" cy="53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PREDICTION MODEL</a:t>
            </a:r>
          </a:p>
        </p:txBody>
      </p:sp>
      <p:sp>
        <p:nvSpPr>
          <p:cNvPr name="AutoShape 61" id="61"/>
          <p:cNvSpPr/>
          <p:nvPr/>
        </p:nvSpPr>
        <p:spPr>
          <a:xfrm rot="-49260">
            <a:off x="5400475" y="2563978"/>
            <a:ext cx="2315651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 rot="5240700">
            <a:off x="5139109" y="2821267"/>
            <a:ext cx="548373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3" id="63"/>
          <p:cNvSpPr txBox="true"/>
          <p:nvPr/>
        </p:nvSpPr>
        <p:spPr>
          <a:xfrm rot="0">
            <a:off x="7818558" y="3650161"/>
            <a:ext cx="28445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9"/>
              </a:lnSpc>
            </a:pPr>
            <a:r>
              <a:rPr lang="en-US" sz="18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COMMUNICATION</a:t>
            </a:r>
          </a:p>
        </p:txBody>
      </p:sp>
      <p:sp>
        <p:nvSpPr>
          <p:cNvPr name="AutoShape 64" id="64"/>
          <p:cNvSpPr/>
          <p:nvPr/>
        </p:nvSpPr>
        <p:spPr>
          <a:xfrm rot="5196360">
            <a:off x="5122097" y="8324450"/>
            <a:ext cx="54021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rot="44820">
            <a:off x="5382711" y="8581387"/>
            <a:ext cx="1947262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rot="5373600">
            <a:off x="5665146" y="6930771"/>
            <a:ext cx="3304089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rot="203400">
            <a:off x="7304113" y="5291471"/>
            <a:ext cx="429492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68" id="68"/>
          <p:cNvSpPr/>
          <p:nvPr/>
        </p:nvSpPr>
        <p:spPr>
          <a:xfrm flipH="false" flipV="false" rot="0">
            <a:off x="7668644" y="7532075"/>
            <a:ext cx="3096758" cy="1573016"/>
          </a:xfrm>
          <a:custGeom>
            <a:avLst/>
            <a:gdLst/>
            <a:ahLst/>
            <a:cxnLst/>
            <a:rect r="r" b="b" t="t" l="l"/>
            <a:pathLst>
              <a:path h="1573016" w="3096758">
                <a:moveTo>
                  <a:pt x="0" y="0"/>
                </a:moveTo>
                <a:lnTo>
                  <a:pt x="3096759" y="0"/>
                </a:lnTo>
                <a:lnTo>
                  <a:pt x="3096759" y="1573015"/>
                </a:lnTo>
                <a:lnTo>
                  <a:pt x="0" y="157301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7943812" y="7743939"/>
            <a:ext cx="2574998" cy="1140314"/>
          </a:xfrm>
          <a:custGeom>
            <a:avLst/>
            <a:gdLst/>
            <a:ahLst/>
            <a:cxnLst/>
            <a:rect r="r" b="b" t="t" l="l"/>
            <a:pathLst>
              <a:path h="1140314" w="2574998">
                <a:moveTo>
                  <a:pt x="0" y="0"/>
                </a:moveTo>
                <a:lnTo>
                  <a:pt x="2574998" y="0"/>
                </a:lnTo>
                <a:lnTo>
                  <a:pt x="2574998" y="1140314"/>
                </a:lnTo>
                <a:lnTo>
                  <a:pt x="0" y="1140314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8032071" y="8054588"/>
            <a:ext cx="2410520" cy="532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EXECUTION &amp; MONITORING</a:t>
            </a:r>
          </a:p>
        </p:txBody>
      </p:sp>
      <p:sp>
        <p:nvSpPr>
          <p:cNvPr name="AutoShape 71" id="71"/>
          <p:cNvSpPr/>
          <p:nvPr/>
        </p:nvSpPr>
        <p:spPr>
          <a:xfrm rot="5196180">
            <a:off x="8976398" y="7308590"/>
            <a:ext cx="428692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2" id="72"/>
          <p:cNvSpPr/>
          <p:nvPr/>
        </p:nvSpPr>
        <p:spPr>
          <a:xfrm flipH="false" flipV="false" rot="0">
            <a:off x="11257112" y="2216077"/>
            <a:ext cx="3111465" cy="5400751"/>
          </a:xfrm>
          <a:custGeom>
            <a:avLst/>
            <a:gdLst/>
            <a:ahLst/>
            <a:cxnLst/>
            <a:rect r="r" b="b" t="t" l="l"/>
            <a:pathLst>
              <a:path h="5400751" w="3111465">
                <a:moveTo>
                  <a:pt x="0" y="0"/>
                </a:moveTo>
                <a:lnTo>
                  <a:pt x="3111465" y="0"/>
                </a:lnTo>
                <a:lnTo>
                  <a:pt x="3111465" y="5400751"/>
                </a:lnTo>
                <a:lnTo>
                  <a:pt x="0" y="5400751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3" id="73"/>
          <p:cNvSpPr/>
          <p:nvPr/>
        </p:nvSpPr>
        <p:spPr>
          <a:xfrm rot="250200">
            <a:off x="10712834" y="2567873"/>
            <a:ext cx="349329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rot="5366520">
            <a:off x="9745389" y="3843128"/>
            <a:ext cx="2607212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rot="351120">
            <a:off x="11035655" y="5133975"/>
            <a:ext cx="249098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6" id="76"/>
          <p:cNvSpPr/>
          <p:nvPr/>
        </p:nvSpPr>
        <p:spPr>
          <a:xfrm rot="22680">
            <a:off x="10713253" y="8293151"/>
            <a:ext cx="3853691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5439540">
            <a:off x="12483084" y="6223625"/>
            <a:ext cx="416473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342660">
            <a:off x="14552114" y="4154100"/>
            <a:ext cx="25527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9" id="79"/>
          <p:cNvSpPr/>
          <p:nvPr/>
        </p:nvSpPr>
        <p:spPr>
          <a:xfrm flipH="false" flipV="false" rot="0">
            <a:off x="14988921" y="2341521"/>
            <a:ext cx="2294515" cy="784212"/>
          </a:xfrm>
          <a:custGeom>
            <a:avLst/>
            <a:gdLst/>
            <a:ahLst/>
            <a:cxnLst/>
            <a:rect r="r" b="b" t="t" l="l"/>
            <a:pathLst>
              <a:path h="784212" w="2294515">
                <a:moveTo>
                  <a:pt x="0" y="0"/>
                </a:moveTo>
                <a:lnTo>
                  <a:pt x="2294515" y="0"/>
                </a:lnTo>
                <a:lnTo>
                  <a:pt x="2294515" y="784213"/>
                </a:lnTo>
                <a:lnTo>
                  <a:pt x="0" y="78421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14988092" y="2433818"/>
            <a:ext cx="2265940" cy="53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TRAIN ARRIVAL/DEPATURE</a:t>
            </a:r>
          </a:p>
        </p:txBody>
      </p:sp>
      <p:sp>
        <p:nvSpPr>
          <p:cNvPr name="Freeform 81" id="81"/>
          <p:cNvSpPr/>
          <p:nvPr/>
        </p:nvSpPr>
        <p:spPr>
          <a:xfrm flipH="false" flipV="false" rot="0">
            <a:off x="14988921" y="5150587"/>
            <a:ext cx="2294515" cy="784212"/>
          </a:xfrm>
          <a:custGeom>
            <a:avLst/>
            <a:gdLst/>
            <a:ahLst/>
            <a:cxnLst/>
            <a:rect r="r" b="b" t="t" l="l"/>
            <a:pathLst>
              <a:path h="784212" w="2294515">
                <a:moveTo>
                  <a:pt x="0" y="0"/>
                </a:moveTo>
                <a:lnTo>
                  <a:pt x="2294515" y="0"/>
                </a:lnTo>
                <a:lnTo>
                  <a:pt x="2294515" y="784212"/>
                </a:lnTo>
                <a:lnTo>
                  <a:pt x="0" y="78421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15205005" y="5360527"/>
            <a:ext cx="1862347" cy="26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FEEDBACK LOOP</a:t>
            </a:r>
          </a:p>
        </p:txBody>
      </p:sp>
      <p:sp>
        <p:nvSpPr>
          <p:cNvPr name="Freeform 83" id="83"/>
          <p:cNvSpPr/>
          <p:nvPr/>
        </p:nvSpPr>
        <p:spPr>
          <a:xfrm flipH="false" flipV="false" rot="0">
            <a:off x="928373" y="4000033"/>
            <a:ext cx="2192026" cy="750237"/>
          </a:xfrm>
          <a:custGeom>
            <a:avLst/>
            <a:gdLst/>
            <a:ahLst/>
            <a:cxnLst/>
            <a:rect r="r" b="b" t="t" l="l"/>
            <a:pathLst>
              <a:path h="750237" w="2192026">
                <a:moveTo>
                  <a:pt x="0" y="0"/>
                </a:moveTo>
                <a:lnTo>
                  <a:pt x="2192027" y="0"/>
                </a:lnTo>
                <a:lnTo>
                  <a:pt x="2192027" y="750237"/>
                </a:lnTo>
                <a:lnTo>
                  <a:pt x="0" y="750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4" id="84"/>
          <p:cNvSpPr txBox="true"/>
          <p:nvPr/>
        </p:nvSpPr>
        <p:spPr>
          <a:xfrm rot="0">
            <a:off x="1040244" y="4238758"/>
            <a:ext cx="1893103" cy="26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</a:pPr>
            <a:r>
              <a:rPr lang="en-US" sz="1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RAILWAY APIS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29" y="41762"/>
            <a:ext cx="18288000" cy="1323023"/>
            <a:chOff x="0" y="0"/>
            <a:chExt cx="24384000" cy="1764030"/>
          </a:xfrm>
        </p:grpSpPr>
        <p:grpSp>
          <p:nvGrpSpPr>
            <p:cNvPr name="Group 86" id="86"/>
            <p:cNvGrpSpPr/>
            <p:nvPr/>
          </p:nvGrpSpPr>
          <p:grpSpPr>
            <a:xfrm rot="0">
              <a:off x="0" y="57150"/>
              <a:ext cx="24384000" cy="1706880"/>
              <a:chOff x="0" y="0"/>
              <a:chExt cx="24384000" cy="170688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24384000" cy="1706880"/>
              </a:xfrm>
              <a:custGeom>
                <a:avLst/>
                <a:gdLst/>
                <a:ahLst/>
                <a:cxnLst/>
                <a:rect r="r" b="b" t="t" l="l"/>
                <a:pathLst>
                  <a:path h="170688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706880"/>
                    </a:lnTo>
                    <a:lnTo>
                      <a:pt x="0" y="1706880"/>
                    </a:lnTo>
                    <a:close/>
                  </a:path>
                </a:pathLst>
              </a:custGeom>
              <a:solidFill>
                <a:srgbClr val="0F172A"/>
              </a:solidFill>
            </p:spPr>
          </p:sp>
        </p:grpSp>
        <p:grpSp>
          <p:nvGrpSpPr>
            <p:cNvPr name="Group 88" id="88"/>
            <p:cNvGrpSpPr/>
            <p:nvPr/>
          </p:nvGrpSpPr>
          <p:grpSpPr>
            <a:xfrm rot="0">
              <a:off x="0" y="57150"/>
              <a:ext cx="536448" cy="1706880"/>
              <a:chOff x="0" y="0"/>
              <a:chExt cx="536448" cy="170688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536448" cy="1706880"/>
              </a:xfrm>
              <a:custGeom>
                <a:avLst/>
                <a:gdLst/>
                <a:ahLst/>
                <a:cxnLst/>
                <a:rect r="r" b="b" t="t" l="l"/>
                <a:pathLst>
                  <a:path h="1706880" w="536448">
                    <a:moveTo>
                      <a:pt x="0" y="0"/>
                    </a:moveTo>
                    <a:lnTo>
                      <a:pt x="536448" y="0"/>
                    </a:lnTo>
                    <a:lnTo>
                      <a:pt x="536448" y="1706880"/>
                    </a:lnTo>
                    <a:lnTo>
                      <a:pt x="0" y="1706880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90" id="90"/>
            <p:cNvGrpSpPr/>
            <p:nvPr/>
          </p:nvGrpSpPr>
          <p:grpSpPr>
            <a:xfrm rot="0">
              <a:off x="1024128" y="57150"/>
              <a:ext cx="20726400" cy="1706880"/>
              <a:chOff x="0" y="0"/>
              <a:chExt cx="20726400" cy="1706880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20726400" cy="1706880"/>
              </a:xfrm>
              <a:custGeom>
                <a:avLst/>
                <a:gdLst/>
                <a:ahLst/>
                <a:cxnLst/>
                <a:rect r="r" b="b" t="t" l="l"/>
                <a:pathLst>
                  <a:path h="1706880" w="20726400">
                    <a:moveTo>
                      <a:pt x="0" y="0"/>
                    </a:moveTo>
                    <a:lnTo>
                      <a:pt x="20726400" y="0"/>
                    </a:lnTo>
                    <a:lnTo>
                      <a:pt x="20726400" y="1706880"/>
                    </a:lnTo>
                    <a:lnTo>
                      <a:pt x="0" y="1706880"/>
                    </a:lnTo>
                    <a:close/>
                  </a:path>
                </a:pathLst>
              </a:custGeom>
              <a:blipFill>
                <a:blip r:embed="rId58">
                  <a:alphaModFix amt="0"/>
                </a:blip>
                <a:stretch>
                  <a:fillRect l="0" t="-186439" r="0" b="-186439"/>
                </a:stretch>
              </a:blipFill>
            </p:spPr>
          </p:sp>
        </p:grpSp>
        <p:grpSp>
          <p:nvGrpSpPr>
            <p:cNvPr name="Group 92" id="92"/>
            <p:cNvGrpSpPr/>
            <p:nvPr/>
          </p:nvGrpSpPr>
          <p:grpSpPr>
            <a:xfrm rot="0">
              <a:off x="1024128" y="0"/>
              <a:ext cx="20726400" cy="1764030"/>
              <a:chOff x="0" y="0"/>
              <a:chExt cx="20726400" cy="176403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20726400" cy="1764030"/>
              </a:xfrm>
              <a:custGeom>
                <a:avLst/>
                <a:gdLst/>
                <a:ahLst/>
                <a:cxnLst/>
                <a:rect r="r" b="b" t="t" l="l"/>
                <a:pathLst>
                  <a:path h="1764030" w="20726400">
                    <a:moveTo>
                      <a:pt x="0" y="0"/>
                    </a:moveTo>
                    <a:lnTo>
                      <a:pt x="20726400" y="0"/>
                    </a:lnTo>
                    <a:lnTo>
                      <a:pt x="20726400" y="1764030"/>
                    </a:lnTo>
                    <a:lnTo>
                      <a:pt x="0" y="1764030"/>
                    </a:lnTo>
                    <a:close/>
                  </a:path>
                </a:pathLst>
              </a:custGeom>
              <a:blipFill>
                <a:blip r:embed="rId59">
                  <a:alphaModFix amt="0"/>
                </a:blip>
                <a:stretch>
                  <a:fillRect l="0" t="-178938" r="0" b="-178938"/>
                </a:stretch>
              </a:blip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57150"/>
                <a:ext cx="20726400" cy="18211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840"/>
                  </a:lnSpc>
                </a:pPr>
                <a:r>
                  <a:rPr lang="en-US" b="true" sz="3200" spc="2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SYSTEM WORKFLOW</a:t>
                </a:r>
              </a:p>
            </p:txBody>
          </p:sp>
        </p:grpSp>
        <p:grpSp>
          <p:nvGrpSpPr>
            <p:cNvPr name="Group 95" id="95"/>
            <p:cNvGrpSpPr/>
            <p:nvPr/>
          </p:nvGrpSpPr>
          <p:grpSpPr>
            <a:xfrm rot="0">
              <a:off x="19507200" y="57150"/>
              <a:ext cx="4389120" cy="1706880"/>
              <a:chOff x="0" y="0"/>
              <a:chExt cx="4389120" cy="1706880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4389120" cy="1706880"/>
              </a:xfrm>
              <a:custGeom>
                <a:avLst/>
                <a:gdLst/>
                <a:ahLst/>
                <a:cxnLst/>
                <a:rect r="r" b="b" t="t" l="l"/>
                <a:pathLst>
                  <a:path h="1706880" w="438912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1706880"/>
                    </a:lnTo>
                    <a:lnTo>
                      <a:pt x="0" y="1706880"/>
                    </a:lnTo>
                    <a:close/>
                  </a:path>
                </a:pathLst>
              </a:custGeom>
              <a:blipFill>
                <a:blip r:embed="rId58">
                  <a:alphaModFix amt="0"/>
                </a:blip>
                <a:stretch>
                  <a:fillRect l="0" t="-69" r="0" b="-69"/>
                </a:stretch>
              </a:blipFill>
            </p:spPr>
          </p:sp>
        </p:grpSp>
        <p:grpSp>
          <p:nvGrpSpPr>
            <p:cNvPr name="Group 97" id="97"/>
            <p:cNvGrpSpPr/>
            <p:nvPr/>
          </p:nvGrpSpPr>
          <p:grpSpPr>
            <a:xfrm rot="0">
              <a:off x="19507200" y="28575"/>
              <a:ext cx="4389120" cy="1735455"/>
              <a:chOff x="0" y="0"/>
              <a:chExt cx="4389120" cy="1735455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4389120" cy="1735455"/>
              </a:xfrm>
              <a:custGeom>
                <a:avLst/>
                <a:gdLst/>
                <a:ahLst/>
                <a:cxnLst/>
                <a:rect r="r" b="b" t="t" l="l"/>
                <a:pathLst>
                  <a:path h="1735455" w="438912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1735455"/>
                    </a:lnTo>
                    <a:lnTo>
                      <a:pt x="0" y="1735455"/>
                    </a:lnTo>
                    <a:close/>
                  </a:path>
                </a:pathLst>
              </a:custGeom>
              <a:blipFill>
                <a:blip r:embed="rId59">
                  <a:alphaModFix amt="0"/>
                </a:blip>
                <a:stretch>
                  <a:fillRect l="-731" t="0" r="-731" b="0"/>
                </a:stretch>
              </a:blip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28575"/>
                <a:ext cx="4389120" cy="17640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1920"/>
                  </a:lnSpc>
                </a:pPr>
                <a:r>
                  <a:rPr lang="en-US" sz="1600">
                    <a:solidFill>
                      <a:srgbClr val="94A3B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MINI PROJECT — II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2862"/>
            <a:ext cx="18288000" cy="1323023"/>
            <a:chOff x="0" y="0"/>
            <a:chExt cx="24384000" cy="17640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7150"/>
              <a:ext cx="24384000" cy="1706880"/>
              <a:chOff x="0" y="0"/>
              <a:chExt cx="24384000" cy="170688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384000" cy="1706880"/>
              </a:xfrm>
              <a:custGeom>
                <a:avLst/>
                <a:gdLst/>
                <a:ahLst/>
                <a:cxnLst/>
                <a:rect r="r" b="b" t="t" l="l"/>
                <a:pathLst>
                  <a:path h="1706880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706880"/>
                    </a:lnTo>
                    <a:lnTo>
                      <a:pt x="0" y="1706880"/>
                    </a:lnTo>
                    <a:close/>
                  </a:path>
                </a:pathLst>
              </a:custGeom>
              <a:solidFill>
                <a:srgbClr val="0F172A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57150"/>
              <a:ext cx="536448" cy="1706880"/>
              <a:chOff x="0" y="0"/>
              <a:chExt cx="536448" cy="170688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36448" cy="1706880"/>
              </a:xfrm>
              <a:custGeom>
                <a:avLst/>
                <a:gdLst/>
                <a:ahLst/>
                <a:cxnLst/>
                <a:rect r="r" b="b" t="t" l="l"/>
                <a:pathLst>
                  <a:path h="1706880" w="536448">
                    <a:moveTo>
                      <a:pt x="0" y="0"/>
                    </a:moveTo>
                    <a:lnTo>
                      <a:pt x="536448" y="0"/>
                    </a:lnTo>
                    <a:lnTo>
                      <a:pt x="536448" y="1706880"/>
                    </a:lnTo>
                    <a:lnTo>
                      <a:pt x="0" y="1706880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024128" y="57150"/>
              <a:ext cx="20726400" cy="1706880"/>
              <a:chOff x="0" y="0"/>
              <a:chExt cx="20726400" cy="170688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726400" cy="1706880"/>
              </a:xfrm>
              <a:custGeom>
                <a:avLst/>
                <a:gdLst/>
                <a:ahLst/>
                <a:cxnLst/>
                <a:rect r="r" b="b" t="t" l="l"/>
                <a:pathLst>
                  <a:path h="1706880" w="20726400">
                    <a:moveTo>
                      <a:pt x="0" y="0"/>
                    </a:moveTo>
                    <a:lnTo>
                      <a:pt x="20726400" y="0"/>
                    </a:lnTo>
                    <a:lnTo>
                      <a:pt x="20726400" y="1706880"/>
                    </a:lnTo>
                    <a:lnTo>
                      <a:pt x="0" y="17068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86439" r="0" b="-186439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024128" y="0"/>
              <a:ext cx="20726400" cy="1764030"/>
              <a:chOff x="0" y="0"/>
              <a:chExt cx="20726400" cy="176403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726400" cy="1764030"/>
              </a:xfrm>
              <a:custGeom>
                <a:avLst/>
                <a:gdLst/>
                <a:ahLst/>
                <a:cxnLst/>
                <a:rect r="r" b="b" t="t" l="l"/>
                <a:pathLst>
                  <a:path h="1764030" w="20726400">
                    <a:moveTo>
                      <a:pt x="0" y="0"/>
                    </a:moveTo>
                    <a:lnTo>
                      <a:pt x="20726400" y="0"/>
                    </a:lnTo>
                    <a:lnTo>
                      <a:pt x="20726400" y="1764030"/>
                    </a:lnTo>
                    <a:lnTo>
                      <a:pt x="0" y="1764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8938" r="0" b="-178938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20726400" cy="18211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840"/>
                  </a:lnSpc>
                </a:pPr>
                <a:r>
                  <a:rPr lang="en-US" b="true" sz="3200" spc="2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RESEARCH &amp; REFERENCES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9507200" y="57150"/>
              <a:ext cx="4389120" cy="1706880"/>
              <a:chOff x="0" y="0"/>
              <a:chExt cx="4389120" cy="1706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389120" cy="1706880"/>
              </a:xfrm>
              <a:custGeom>
                <a:avLst/>
                <a:gdLst/>
                <a:ahLst/>
                <a:cxnLst/>
                <a:rect r="r" b="b" t="t" l="l"/>
                <a:pathLst>
                  <a:path h="1706880" w="438912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1706880"/>
                    </a:lnTo>
                    <a:lnTo>
                      <a:pt x="0" y="17068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9" r="0" b="-69"/>
                </a:stretch>
              </a:blip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9507200" y="28575"/>
              <a:ext cx="4389120" cy="1735455"/>
              <a:chOff x="0" y="0"/>
              <a:chExt cx="4389120" cy="173545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389120" cy="1735455"/>
              </a:xfrm>
              <a:custGeom>
                <a:avLst/>
                <a:gdLst/>
                <a:ahLst/>
                <a:cxnLst/>
                <a:rect r="r" b="b" t="t" l="l"/>
                <a:pathLst>
                  <a:path h="1735455" w="438912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1735455"/>
                    </a:lnTo>
                    <a:lnTo>
                      <a:pt x="0" y="173545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31" t="0" r="-731" b="0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4389120" cy="17640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1920"/>
                  </a:lnSpc>
                </a:pPr>
                <a:r>
                  <a:rPr lang="en-US" sz="1600">
                    <a:solidFill>
                      <a:srgbClr val="94A3B8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MINI PROJECT — II</a:t>
                </a: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7007840" y="9509760"/>
            <a:ext cx="914400" cy="548640"/>
            <a:chOff x="0" y="0"/>
            <a:chExt cx="12192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5" t="0" r="-2703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007840" y="9481185"/>
            <a:ext cx="914400" cy="577215"/>
            <a:chOff x="0" y="0"/>
            <a:chExt cx="1219200" cy="7696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t="0" r="-30991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19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33727" y="1731007"/>
            <a:ext cx="17020604" cy="1768412"/>
          </a:xfrm>
          <a:custGeom>
            <a:avLst/>
            <a:gdLst/>
            <a:ahLst/>
            <a:cxnLst/>
            <a:rect r="r" b="b" t="t" l="l"/>
            <a:pathLst>
              <a:path h="1768412" w="17020604">
                <a:moveTo>
                  <a:pt x="0" y="0"/>
                </a:moveTo>
                <a:lnTo>
                  <a:pt x="17020603" y="0"/>
                </a:lnTo>
                <a:lnTo>
                  <a:pt x="17020603" y="1768411"/>
                </a:lnTo>
                <a:lnTo>
                  <a:pt x="0" y="17684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40080" y="1737360"/>
            <a:ext cx="1005840" cy="1755648"/>
            <a:chOff x="0" y="0"/>
            <a:chExt cx="1341120" cy="23408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120" cy="2340864"/>
            </a:xfrm>
            <a:custGeom>
              <a:avLst/>
              <a:gdLst/>
              <a:ahLst/>
              <a:cxnLst/>
              <a:rect r="r" b="b" t="t" l="l"/>
              <a:pathLst>
                <a:path h="234086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40864"/>
                  </a:lnTo>
                  <a:lnTo>
                    <a:pt x="0" y="234086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0080" y="1737360"/>
            <a:ext cx="1005840" cy="1755648"/>
            <a:chOff x="0" y="0"/>
            <a:chExt cx="1341120" cy="23408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1120" cy="2340864"/>
            </a:xfrm>
            <a:custGeom>
              <a:avLst/>
              <a:gdLst/>
              <a:ahLst/>
              <a:cxnLst/>
              <a:rect r="r" b="b" t="t" l="l"/>
              <a:pathLst>
                <a:path h="234086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40864"/>
                  </a:lnTo>
                  <a:lnTo>
                    <a:pt x="0" y="2340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4104" t="0" r="-174103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40080" y="1701641"/>
            <a:ext cx="1005840" cy="1791367"/>
            <a:chOff x="0" y="0"/>
            <a:chExt cx="1341120" cy="23884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1120" cy="2388489"/>
            </a:xfrm>
            <a:custGeom>
              <a:avLst/>
              <a:gdLst/>
              <a:ahLst/>
              <a:cxnLst/>
              <a:rect r="r" b="b" t="t" l="l"/>
              <a:pathLst>
                <a:path h="2388489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88489"/>
                  </a:lnTo>
                  <a:lnTo>
                    <a:pt x="0" y="23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8504" t="0" r="-17850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341120" cy="2455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20240" y="1993392"/>
            <a:ext cx="1280160" cy="438912"/>
            <a:chOff x="0" y="0"/>
            <a:chExt cx="170688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6880" cy="585216"/>
            </a:xfrm>
            <a:custGeom>
              <a:avLst/>
              <a:gdLst/>
              <a:ahLst/>
              <a:cxnLst/>
              <a:rect r="r" b="b" t="t" l="l"/>
              <a:pathLst>
                <a:path h="585216" w="170688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584960" y="0"/>
                  </a:lnTo>
                  <a:cubicBezTo>
                    <a:pt x="1652270" y="0"/>
                    <a:pt x="1706880" y="54610"/>
                    <a:pt x="1706880" y="121920"/>
                  </a:cubicBezTo>
                  <a:lnTo>
                    <a:pt x="1706880" y="463296"/>
                  </a:lnTo>
                  <a:cubicBezTo>
                    <a:pt x="1706880" y="530606"/>
                    <a:pt x="1652270" y="585216"/>
                    <a:pt x="1584960" y="585216"/>
                  </a:cubicBezTo>
                  <a:lnTo>
                    <a:pt x="121920" y="585216"/>
                  </a:lnTo>
                  <a:cubicBezTo>
                    <a:pt x="54610" y="585216"/>
                    <a:pt x="0" y="530606"/>
                    <a:pt x="0" y="463296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920240" y="1993392"/>
            <a:ext cx="1280160" cy="438912"/>
            <a:chOff x="0" y="0"/>
            <a:chExt cx="170688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6880" cy="585216"/>
            </a:xfrm>
            <a:custGeom>
              <a:avLst/>
              <a:gdLst/>
              <a:ahLst/>
              <a:cxnLst/>
              <a:rect r="r" b="b" t="t" l="l"/>
              <a:pathLst>
                <a:path h="58521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2" r="0" b="-679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20240" y="1971961"/>
            <a:ext cx="1280160" cy="460343"/>
            <a:chOff x="0" y="0"/>
            <a:chExt cx="1706880" cy="6137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06880" cy="613791"/>
            </a:xfrm>
            <a:custGeom>
              <a:avLst/>
              <a:gdLst/>
              <a:ahLst/>
              <a:cxnLst/>
              <a:rect r="r" b="b" t="t" l="l"/>
              <a:pathLst>
                <a:path h="613791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13791"/>
                  </a:lnTo>
                  <a:lnTo>
                    <a:pt x="0" y="6137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" r="0" b="-418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70688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RDSO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419856" y="1883664"/>
            <a:ext cx="13716000" cy="585216"/>
            <a:chOff x="0" y="0"/>
            <a:chExt cx="18288000" cy="780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0" cy="780288"/>
            </a:xfrm>
            <a:custGeom>
              <a:avLst/>
              <a:gdLst/>
              <a:ahLst/>
              <a:cxnLst/>
              <a:rect r="r" b="b" t="t" l="l"/>
              <a:pathLst>
                <a:path h="78028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6362" r="0" b="-406363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419856" y="1855089"/>
            <a:ext cx="13716000" cy="613791"/>
            <a:chOff x="0" y="0"/>
            <a:chExt cx="18288000" cy="8183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288000" cy="818388"/>
            </a:xfrm>
            <a:custGeom>
              <a:avLst/>
              <a:gdLst/>
              <a:ahLst/>
              <a:cxnLst/>
              <a:rect r="r" b="b" t="t" l="l"/>
              <a:pathLst>
                <a:path h="81838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419" r="0" b="-38541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828800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Centralized Traffic Control System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419856" y="2578608"/>
            <a:ext cx="13716000" cy="768096"/>
            <a:chOff x="0" y="0"/>
            <a:chExt cx="18288000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28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704" r="0" b="-29770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3419856" y="2550033"/>
            <a:ext cx="13716000" cy="796671"/>
            <a:chOff x="0" y="0"/>
            <a:chExt cx="18288000" cy="10622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288000" cy="1062228"/>
            </a:xfrm>
            <a:custGeom>
              <a:avLst/>
              <a:gdLst/>
              <a:ahLst/>
              <a:cxnLst/>
              <a:rect r="r" b="b" t="t" l="l"/>
              <a:pathLst>
                <a:path h="106222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466" r="0" b="-28546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828800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Draft Specification for Centralized Traffic Control System (CTC) — Indian Railways.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633727" y="3779263"/>
            <a:ext cx="17020604" cy="1768412"/>
          </a:xfrm>
          <a:custGeom>
            <a:avLst/>
            <a:gdLst/>
            <a:ahLst/>
            <a:cxnLst/>
            <a:rect r="r" b="b" t="t" l="l"/>
            <a:pathLst>
              <a:path h="1768412" w="17020604">
                <a:moveTo>
                  <a:pt x="0" y="0"/>
                </a:moveTo>
                <a:lnTo>
                  <a:pt x="17020603" y="0"/>
                </a:lnTo>
                <a:lnTo>
                  <a:pt x="17020603" y="1768411"/>
                </a:lnTo>
                <a:lnTo>
                  <a:pt x="0" y="17684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640080" y="3785616"/>
            <a:ext cx="1005840" cy="1755648"/>
            <a:chOff x="0" y="0"/>
            <a:chExt cx="1341120" cy="23408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41120" cy="2340864"/>
            </a:xfrm>
            <a:custGeom>
              <a:avLst/>
              <a:gdLst/>
              <a:ahLst/>
              <a:cxnLst/>
              <a:rect r="r" b="b" t="t" l="l"/>
              <a:pathLst>
                <a:path h="234086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40864"/>
                  </a:lnTo>
                  <a:lnTo>
                    <a:pt x="0" y="234086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40080" y="3785616"/>
            <a:ext cx="1005840" cy="1755648"/>
            <a:chOff x="0" y="0"/>
            <a:chExt cx="1341120" cy="23408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" cy="2340864"/>
            </a:xfrm>
            <a:custGeom>
              <a:avLst/>
              <a:gdLst/>
              <a:ahLst/>
              <a:cxnLst/>
              <a:rect r="r" b="b" t="t" l="l"/>
              <a:pathLst>
                <a:path h="234086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40864"/>
                  </a:lnTo>
                  <a:lnTo>
                    <a:pt x="0" y="2340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4104" t="0" r="-174103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40080" y="3749897"/>
            <a:ext cx="1005840" cy="1791367"/>
            <a:chOff x="0" y="0"/>
            <a:chExt cx="1341120" cy="238848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41120" cy="2388489"/>
            </a:xfrm>
            <a:custGeom>
              <a:avLst/>
              <a:gdLst/>
              <a:ahLst/>
              <a:cxnLst/>
              <a:rect r="r" b="b" t="t" l="l"/>
              <a:pathLst>
                <a:path h="2388489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88489"/>
                  </a:lnTo>
                  <a:lnTo>
                    <a:pt x="0" y="23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8504" t="0" r="-17850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1341120" cy="2455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920240" y="4041648"/>
            <a:ext cx="1280160" cy="438912"/>
            <a:chOff x="0" y="0"/>
            <a:chExt cx="170688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06880" cy="585216"/>
            </a:xfrm>
            <a:custGeom>
              <a:avLst/>
              <a:gdLst/>
              <a:ahLst/>
              <a:cxnLst/>
              <a:rect r="r" b="b" t="t" l="l"/>
              <a:pathLst>
                <a:path h="585216" w="170688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584960" y="0"/>
                  </a:lnTo>
                  <a:cubicBezTo>
                    <a:pt x="1652270" y="0"/>
                    <a:pt x="1706880" y="54610"/>
                    <a:pt x="1706880" y="121920"/>
                  </a:cubicBezTo>
                  <a:lnTo>
                    <a:pt x="1706880" y="463296"/>
                  </a:lnTo>
                  <a:cubicBezTo>
                    <a:pt x="1706880" y="530606"/>
                    <a:pt x="1652270" y="585216"/>
                    <a:pt x="1584960" y="585216"/>
                  </a:cubicBezTo>
                  <a:lnTo>
                    <a:pt x="121920" y="585216"/>
                  </a:lnTo>
                  <a:cubicBezTo>
                    <a:pt x="54610" y="585216"/>
                    <a:pt x="0" y="530606"/>
                    <a:pt x="0" y="463296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920240" y="4041648"/>
            <a:ext cx="1280160" cy="438912"/>
            <a:chOff x="0" y="0"/>
            <a:chExt cx="1706880" cy="58521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06880" cy="585216"/>
            </a:xfrm>
            <a:custGeom>
              <a:avLst/>
              <a:gdLst/>
              <a:ahLst/>
              <a:cxnLst/>
              <a:rect r="r" b="b" t="t" l="l"/>
              <a:pathLst>
                <a:path h="58521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2" r="0" b="-679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920240" y="4020217"/>
            <a:ext cx="1280160" cy="460343"/>
            <a:chOff x="0" y="0"/>
            <a:chExt cx="1706880" cy="6137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06880" cy="613791"/>
            </a:xfrm>
            <a:custGeom>
              <a:avLst/>
              <a:gdLst/>
              <a:ahLst/>
              <a:cxnLst/>
              <a:rect r="r" b="b" t="t" l="l"/>
              <a:pathLst>
                <a:path h="613791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13791"/>
                  </a:lnTo>
                  <a:lnTo>
                    <a:pt x="0" y="6137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" r="0" b="-418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70688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RDSO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419856" y="3931920"/>
            <a:ext cx="13716000" cy="585216"/>
            <a:chOff x="0" y="0"/>
            <a:chExt cx="18288000" cy="7802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288000" cy="780288"/>
            </a:xfrm>
            <a:custGeom>
              <a:avLst/>
              <a:gdLst/>
              <a:ahLst/>
              <a:cxnLst/>
              <a:rect r="r" b="b" t="t" l="l"/>
              <a:pathLst>
                <a:path h="78028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6362" r="0" b="-406363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3419856" y="3903345"/>
            <a:ext cx="13716000" cy="613791"/>
            <a:chOff x="0" y="0"/>
            <a:chExt cx="18288000" cy="8183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288000" cy="818388"/>
            </a:xfrm>
            <a:custGeom>
              <a:avLst/>
              <a:gdLst/>
              <a:ahLst/>
              <a:cxnLst/>
              <a:rect r="r" b="b" t="t" l="l"/>
              <a:pathLst>
                <a:path h="81838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419" r="0" b="-38541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828800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 Collision Avoidance System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419856" y="4626864"/>
            <a:ext cx="13716000" cy="768096"/>
            <a:chOff x="0" y="0"/>
            <a:chExt cx="18288000" cy="10241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28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704" r="0" b="-297705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3419856" y="4598289"/>
            <a:ext cx="13716000" cy="796671"/>
            <a:chOff x="0" y="0"/>
            <a:chExt cx="18288000" cy="10622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288000" cy="1062228"/>
            </a:xfrm>
            <a:custGeom>
              <a:avLst/>
              <a:gdLst/>
              <a:ahLst/>
              <a:cxnLst/>
              <a:rect r="r" b="b" t="t" l="l"/>
              <a:pathLst>
                <a:path h="106222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466" r="0" b="-28546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828800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Technical &amp; Functional Requirements for TCAS (Kavach) implementation.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633727" y="5827519"/>
            <a:ext cx="17020604" cy="1768412"/>
          </a:xfrm>
          <a:custGeom>
            <a:avLst/>
            <a:gdLst/>
            <a:ahLst/>
            <a:cxnLst/>
            <a:rect r="r" b="b" t="t" l="l"/>
            <a:pathLst>
              <a:path h="1768412" w="17020604">
                <a:moveTo>
                  <a:pt x="0" y="0"/>
                </a:moveTo>
                <a:lnTo>
                  <a:pt x="17020603" y="0"/>
                </a:lnTo>
                <a:lnTo>
                  <a:pt x="17020603" y="1768411"/>
                </a:lnTo>
                <a:lnTo>
                  <a:pt x="0" y="17684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640080" y="5833872"/>
            <a:ext cx="1005840" cy="1755648"/>
            <a:chOff x="0" y="0"/>
            <a:chExt cx="1341120" cy="23408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41120" cy="2340864"/>
            </a:xfrm>
            <a:custGeom>
              <a:avLst/>
              <a:gdLst/>
              <a:ahLst/>
              <a:cxnLst/>
              <a:rect r="r" b="b" t="t" l="l"/>
              <a:pathLst>
                <a:path h="234086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40864"/>
                  </a:lnTo>
                  <a:lnTo>
                    <a:pt x="0" y="234086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40080" y="5833872"/>
            <a:ext cx="1005840" cy="1755648"/>
            <a:chOff x="0" y="0"/>
            <a:chExt cx="1341120" cy="23408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41120" cy="2340864"/>
            </a:xfrm>
            <a:custGeom>
              <a:avLst/>
              <a:gdLst/>
              <a:ahLst/>
              <a:cxnLst/>
              <a:rect r="r" b="b" t="t" l="l"/>
              <a:pathLst>
                <a:path h="234086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40864"/>
                  </a:lnTo>
                  <a:lnTo>
                    <a:pt x="0" y="2340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4104" t="0" r="-174103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0080" y="5798153"/>
            <a:ext cx="1005840" cy="1791367"/>
            <a:chOff x="0" y="0"/>
            <a:chExt cx="1341120" cy="238848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41120" cy="2388489"/>
            </a:xfrm>
            <a:custGeom>
              <a:avLst/>
              <a:gdLst/>
              <a:ahLst/>
              <a:cxnLst/>
              <a:rect r="r" b="b" t="t" l="l"/>
              <a:pathLst>
                <a:path h="2388489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88489"/>
                  </a:lnTo>
                  <a:lnTo>
                    <a:pt x="0" y="23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8504" t="0" r="-178504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66675"/>
              <a:ext cx="1341120" cy="2455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920240" y="6089904"/>
            <a:ext cx="1280160" cy="438912"/>
            <a:chOff x="0" y="0"/>
            <a:chExt cx="1706880" cy="5852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06880" cy="585216"/>
            </a:xfrm>
            <a:custGeom>
              <a:avLst/>
              <a:gdLst/>
              <a:ahLst/>
              <a:cxnLst/>
              <a:rect r="r" b="b" t="t" l="l"/>
              <a:pathLst>
                <a:path h="585216" w="170688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584960" y="0"/>
                  </a:lnTo>
                  <a:cubicBezTo>
                    <a:pt x="1652270" y="0"/>
                    <a:pt x="1706880" y="54610"/>
                    <a:pt x="1706880" y="121920"/>
                  </a:cubicBezTo>
                  <a:lnTo>
                    <a:pt x="1706880" y="463296"/>
                  </a:lnTo>
                  <a:cubicBezTo>
                    <a:pt x="1706880" y="530606"/>
                    <a:pt x="1652270" y="585216"/>
                    <a:pt x="1584960" y="585216"/>
                  </a:cubicBezTo>
                  <a:lnTo>
                    <a:pt x="121920" y="585216"/>
                  </a:lnTo>
                  <a:cubicBezTo>
                    <a:pt x="54610" y="585216"/>
                    <a:pt x="0" y="530606"/>
                    <a:pt x="0" y="463296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920240" y="6089904"/>
            <a:ext cx="1280160" cy="438912"/>
            <a:chOff x="0" y="0"/>
            <a:chExt cx="1706880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706880" cy="585216"/>
            </a:xfrm>
            <a:custGeom>
              <a:avLst/>
              <a:gdLst/>
              <a:ahLst/>
              <a:cxnLst/>
              <a:rect r="r" b="b" t="t" l="l"/>
              <a:pathLst>
                <a:path h="58521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2" r="0" b="-679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920240" y="6068473"/>
            <a:ext cx="1280160" cy="460343"/>
            <a:chOff x="0" y="0"/>
            <a:chExt cx="1706880" cy="61379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706880" cy="613791"/>
            </a:xfrm>
            <a:custGeom>
              <a:avLst/>
              <a:gdLst/>
              <a:ahLst/>
              <a:cxnLst/>
              <a:rect r="r" b="b" t="t" l="l"/>
              <a:pathLst>
                <a:path h="613791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13791"/>
                  </a:lnTo>
                  <a:lnTo>
                    <a:pt x="0" y="6137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" r="0" b="-418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170688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419856" y="5980176"/>
            <a:ext cx="13716000" cy="585216"/>
            <a:chOff x="0" y="0"/>
            <a:chExt cx="18288000" cy="78028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8288000" cy="780288"/>
            </a:xfrm>
            <a:custGeom>
              <a:avLst/>
              <a:gdLst/>
              <a:ahLst/>
              <a:cxnLst/>
              <a:rect r="r" b="b" t="t" l="l"/>
              <a:pathLst>
                <a:path h="78028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6362" r="0" b="-406363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3419856" y="5951601"/>
            <a:ext cx="13716000" cy="613791"/>
            <a:chOff x="0" y="0"/>
            <a:chExt cx="18288000" cy="81838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8288000" cy="818388"/>
            </a:xfrm>
            <a:custGeom>
              <a:avLst/>
              <a:gdLst/>
              <a:ahLst/>
              <a:cxnLst/>
              <a:rect r="r" b="b" t="t" l="l"/>
              <a:pathLst>
                <a:path h="81838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419" r="0" b="-38541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828800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Traffic Management System (TMS)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3419856" y="6675120"/>
            <a:ext cx="13716000" cy="768096"/>
            <a:chOff x="0" y="0"/>
            <a:chExt cx="18288000" cy="102412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828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704" r="0" b="-297705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3419856" y="6646545"/>
            <a:ext cx="13716000" cy="796671"/>
            <a:chOff x="0" y="0"/>
            <a:chExt cx="18288000" cy="106222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8288000" cy="1062228"/>
            </a:xfrm>
            <a:custGeom>
              <a:avLst/>
              <a:gdLst/>
              <a:ahLst/>
              <a:cxnLst/>
              <a:rect r="r" b="b" t="t" l="l"/>
              <a:pathLst>
                <a:path h="106222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466" r="0" b="-28546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828800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Operational frameworks and project documentation for TMS by CRIS.</a:t>
              </a:r>
            </a:p>
          </p:txBody>
        </p:sp>
      </p:grpSp>
      <p:sp>
        <p:nvSpPr>
          <p:cNvPr name="Freeform 97" id="97"/>
          <p:cNvSpPr/>
          <p:nvPr/>
        </p:nvSpPr>
        <p:spPr>
          <a:xfrm flipH="false" flipV="false" rot="0">
            <a:off x="633727" y="7875775"/>
            <a:ext cx="17020604" cy="1768412"/>
          </a:xfrm>
          <a:custGeom>
            <a:avLst/>
            <a:gdLst/>
            <a:ahLst/>
            <a:cxnLst/>
            <a:rect r="r" b="b" t="t" l="l"/>
            <a:pathLst>
              <a:path h="1768412" w="17020604">
                <a:moveTo>
                  <a:pt x="0" y="0"/>
                </a:moveTo>
                <a:lnTo>
                  <a:pt x="17020603" y="0"/>
                </a:lnTo>
                <a:lnTo>
                  <a:pt x="17020603" y="1768411"/>
                </a:lnTo>
                <a:lnTo>
                  <a:pt x="0" y="17684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8" id="98"/>
          <p:cNvGrpSpPr/>
          <p:nvPr/>
        </p:nvGrpSpPr>
        <p:grpSpPr>
          <a:xfrm rot="0">
            <a:off x="640080" y="7882128"/>
            <a:ext cx="1005840" cy="1755648"/>
            <a:chOff x="0" y="0"/>
            <a:chExt cx="1341120" cy="234086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41120" cy="2340864"/>
            </a:xfrm>
            <a:custGeom>
              <a:avLst/>
              <a:gdLst/>
              <a:ahLst/>
              <a:cxnLst/>
              <a:rect r="r" b="b" t="t" l="l"/>
              <a:pathLst>
                <a:path h="234086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40864"/>
                  </a:lnTo>
                  <a:lnTo>
                    <a:pt x="0" y="234086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40080" y="7882128"/>
            <a:ext cx="1005840" cy="1755648"/>
            <a:chOff x="0" y="0"/>
            <a:chExt cx="1341120" cy="234086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341120" cy="2340864"/>
            </a:xfrm>
            <a:custGeom>
              <a:avLst/>
              <a:gdLst/>
              <a:ahLst/>
              <a:cxnLst/>
              <a:rect r="r" b="b" t="t" l="l"/>
              <a:pathLst>
                <a:path h="2340864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40864"/>
                  </a:lnTo>
                  <a:lnTo>
                    <a:pt x="0" y="2340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4104" t="0" r="-174103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640080" y="7846409"/>
            <a:ext cx="1005840" cy="1791367"/>
            <a:chOff x="0" y="0"/>
            <a:chExt cx="1341120" cy="238848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341120" cy="2388489"/>
            </a:xfrm>
            <a:custGeom>
              <a:avLst/>
              <a:gdLst/>
              <a:ahLst/>
              <a:cxnLst/>
              <a:rect r="r" b="b" t="t" l="l"/>
              <a:pathLst>
                <a:path h="2388489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388489"/>
                  </a:lnTo>
                  <a:lnTo>
                    <a:pt x="0" y="23884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8504" t="0" r="-178504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66675"/>
              <a:ext cx="1341120" cy="2455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920240" y="8138160"/>
            <a:ext cx="1280160" cy="438912"/>
            <a:chOff x="0" y="0"/>
            <a:chExt cx="1706880" cy="5852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706880" cy="585216"/>
            </a:xfrm>
            <a:custGeom>
              <a:avLst/>
              <a:gdLst/>
              <a:ahLst/>
              <a:cxnLst/>
              <a:rect r="r" b="b" t="t" l="l"/>
              <a:pathLst>
                <a:path h="585216" w="170688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584960" y="0"/>
                  </a:lnTo>
                  <a:cubicBezTo>
                    <a:pt x="1652270" y="0"/>
                    <a:pt x="1706880" y="54610"/>
                    <a:pt x="1706880" y="121920"/>
                  </a:cubicBezTo>
                  <a:lnTo>
                    <a:pt x="1706880" y="463296"/>
                  </a:lnTo>
                  <a:cubicBezTo>
                    <a:pt x="1706880" y="530606"/>
                    <a:pt x="1652270" y="585216"/>
                    <a:pt x="1584960" y="585216"/>
                  </a:cubicBezTo>
                  <a:lnTo>
                    <a:pt x="121920" y="585216"/>
                  </a:lnTo>
                  <a:cubicBezTo>
                    <a:pt x="54610" y="585216"/>
                    <a:pt x="0" y="530606"/>
                    <a:pt x="0" y="463296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920240" y="8138160"/>
            <a:ext cx="1280160" cy="438912"/>
            <a:chOff x="0" y="0"/>
            <a:chExt cx="1706880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706880" cy="585216"/>
            </a:xfrm>
            <a:custGeom>
              <a:avLst/>
              <a:gdLst/>
              <a:ahLst/>
              <a:cxnLst/>
              <a:rect r="r" b="b" t="t" l="l"/>
              <a:pathLst>
                <a:path h="58521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2" r="0" b="-679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920240" y="8116729"/>
            <a:ext cx="1280160" cy="460343"/>
            <a:chOff x="0" y="0"/>
            <a:chExt cx="1706880" cy="61379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706880" cy="613791"/>
            </a:xfrm>
            <a:custGeom>
              <a:avLst/>
              <a:gdLst/>
              <a:ahLst/>
              <a:cxnLst/>
              <a:rect r="r" b="b" t="t" l="l"/>
              <a:pathLst>
                <a:path h="613791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13791"/>
                  </a:lnTo>
                  <a:lnTo>
                    <a:pt x="0" y="6137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" r="0" b="-418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170688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IRISET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3419856" y="8028432"/>
            <a:ext cx="13716000" cy="585216"/>
            <a:chOff x="0" y="0"/>
            <a:chExt cx="18288000" cy="78028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8288000" cy="780288"/>
            </a:xfrm>
            <a:custGeom>
              <a:avLst/>
              <a:gdLst/>
              <a:ahLst/>
              <a:cxnLst/>
              <a:rect r="r" b="b" t="t" l="l"/>
              <a:pathLst>
                <a:path h="78028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6362" r="0" b="-406363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3419856" y="7999857"/>
            <a:ext cx="13716000" cy="613791"/>
            <a:chOff x="0" y="0"/>
            <a:chExt cx="18288000" cy="81838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8288000" cy="818388"/>
            </a:xfrm>
            <a:custGeom>
              <a:avLst/>
              <a:gdLst/>
              <a:ahLst/>
              <a:cxnLst/>
              <a:rect r="r" b="b" t="t" l="l"/>
              <a:pathLst>
                <a:path h="81838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419" r="0" b="-385419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1828800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FOIS Innovation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3419856" y="8723376"/>
            <a:ext cx="13716000" cy="768096"/>
            <a:chOff x="0" y="0"/>
            <a:chExt cx="18288000" cy="102412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828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704" r="0" b="-297705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3419856" y="8694801"/>
            <a:ext cx="13716000" cy="796671"/>
            <a:chOff x="0" y="0"/>
            <a:chExt cx="18288000" cy="106222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8288000" cy="1062228"/>
            </a:xfrm>
            <a:custGeom>
              <a:avLst/>
              <a:gdLst/>
              <a:ahLst/>
              <a:cxnLst/>
              <a:rect r="r" b="b" t="t" l="l"/>
              <a:pathLst>
                <a:path h="106222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466" r="0" b="-28546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828800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Gyandeep 2024 Technical Magazine and FOIS-Innovation portal for Indian Railways.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640080" y="9619488"/>
            <a:ext cx="17007840" cy="402336"/>
            <a:chOff x="0" y="0"/>
            <a:chExt cx="22677120" cy="53644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0F3F7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640080" y="9619488"/>
            <a:ext cx="17007840" cy="402336"/>
            <a:chOff x="0" y="0"/>
            <a:chExt cx="22677120" cy="53644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640080" y="9598057"/>
            <a:ext cx="17007840" cy="423767"/>
            <a:chOff x="0" y="0"/>
            <a:chExt cx="22677120" cy="56502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2677120" cy="565023"/>
            </a:xfrm>
            <a:custGeom>
              <a:avLst/>
              <a:gdLst/>
              <a:ahLst/>
              <a:cxnLst/>
              <a:rect r="r" b="b" t="t" l="l"/>
              <a:pathLst>
                <a:path h="565023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65023"/>
                  </a:lnTo>
                  <a:lnTo>
                    <a:pt x="0" y="565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029" r="0" b="-732029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22677120" cy="593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spc="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RESEARCH-DRIVEN INNOVATION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02336" cy="10287000"/>
            <a:chOff x="0" y="0"/>
            <a:chExt cx="53644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644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0"/>
            <a:ext cx="4572000" cy="10287000"/>
            <a:chOff x="0" y="0"/>
            <a:chExt cx="6096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9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3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95528" y="829343"/>
            <a:ext cx="12527280" cy="8218417"/>
            <a:chOff x="0" y="0"/>
            <a:chExt cx="16703040" cy="109578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03039" cy="10957889"/>
            </a:xfrm>
            <a:custGeom>
              <a:avLst/>
              <a:gdLst/>
              <a:ahLst/>
              <a:cxnLst/>
              <a:rect r="r" b="b" t="t" l="l"/>
              <a:pathLst>
                <a:path h="10957889" w="16703039">
                  <a:moveTo>
                    <a:pt x="0" y="0"/>
                  </a:moveTo>
                  <a:lnTo>
                    <a:pt x="16703039" y="0"/>
                  </a:lnTo>
                  <a:lnTo>
                    <a:pt x="16703039" y="10957889"/>
                  </a:lnTo>
                  <a:lnTo>
                    <a:pt x="0" y="10957889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8408" y="829343"/>
            <a:ext cx="7315200" cy="4255966"/>
            <a:chOff x="0" y="0"/>
            <a:chExt cx="9753600" cy="56746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5674621"/>
            </a:xfrm>
            <a:custGeom>
              <a:avLst/>
              <a:gdLst/>
              <a:ahLst/>
              <a:cxnLst/>
              <a:rect r="r" b="b" t="t" l="l"/>
              <a:pathLst>
                <a:path h="567462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674621"/>
                  </a:lnTo>
                  <a:lnTo>
                    <a:pt x="0" y="56746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698" t="0" r="-2469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3975" y="1721354"/>
            <a:ext cx="7315200" cy="2471946"/>
            <a:chOff x="0" y="0"/>
            <a:chExt cx="9753600" cy="3295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0" cy="3295928"/>
            </a:xfrm>
            <a:custGeom>
              <a:avLst/>
              <a:gdLst/>
              <a:ahLst/>
              <a:cxnLst/>
              <a:rect r="r" b="b" t="t" l="l"/>
              <a:pathLst>
                <a:path h="329592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295928"/>
                  </a:lnTo>
                  <a:lnTo>
                    <a:pt x="0" y="3295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73" r="0" b="1914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19075"/>
              <a:ext cx="9753600" cy="3515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118"/>
                </a:lnSpc>
              </a:pPr>
              <a:r>
                <a:rPr lang="en-US" sz="100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8408" y="4645037"/>
            <a:ext cx="7315200" cy="3668936"/>
            <a:chOff x="0" y="0"/>
            <a:chExt cx="9753600" cy="48919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3600" cy="4891915"/>
            </a:xfrm>
            <a:custGeom>
              <a:avLst/>
              <a:gdLst/>
              <a:ahLst/>
              <a:cxnLst/>
              <a:rect r="r" b="b" t="t" l="l"/>
              <a:pathLst>
                <a:path h="489191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91915"/>
                  </a:lnTo>
                  <a:lnTo>
                    <a:pt x="0" y="48919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395" t="0" r="-14395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00814" y="829343"/>
            <a:ext cx="3121994" cy="8218417"/>
            <a:chOff x="0" y="0"/>
            <a:chExt cx="4162658" cy="109578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62658" cy="10957889"/>
            </a:xfrm>
            <a:custGeom>
              <a:avLst/>
              <a:gdLst/>
              <a:ahLst/>
              <a:cxnLst/>
              <a:rect r="r" b="b" t="t" l="l"/>
              <a:pathLst>
                <a:path h="10957889" w="4162658">
                  <a:moveTo>
                    <a:pt x="0" y="0"/>
                  </a:moveTo>
                  <a:lnTo>
                    <a:pt x="4162658" y="0"/>
                  </a:lnTo>
                  <a:lnTo>
                    <a:pt x="4162658" y="10957889"/>
                  </a:lnTo>
                  <a:lnTo>
                    <a:pt x="0" y="1095788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007840" y="9509760"/>
            <a:ext cx="914400" cy="548640"/>
            <a:chOff x="0" y="0"/>
            <a:chExt cx="12192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5" t="0" r="-2703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007840" y="9481185"/>
            <a:ext cx="914400" cy="577215"/>
            <a:chOff x="0" y="0"/>
            <a:chExt cx="1219200" cy="7696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t="0" r="-30991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19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DAHGFtBuEJI</dc:identifier>
  <dcterms:modified xsi:type="dcterms:W3CDTF">2011-08-01T06:04:30Z</dcterms:modified>
  <cp:revision>1</cp:revision>
  <dc:title>PostgreSQL,MySQL,SQLite</dc:title>
</cp:coreProperties>
</file>